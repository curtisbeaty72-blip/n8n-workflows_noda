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a114ef704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a114ef704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Welcome everyone. This is our Week 10 Capstone Project presenting an AI-powered audit document tracking and risk management system. The system was developed by Dennis Paul and Leilah Kokoyo and built using n8n workflow automation, Mistral AI, Google Sheets, Gmail.</a:t>
            </a:r>
            <a:endParaRPr/>
          </a:p>
        </p:txBody>
      </p:sp>
      <p:sp>
        <p:nvSpPr>
          <p:cNvPr id="55" name="Google Shape;55;g3ea114ef704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a114ef704_2_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ea114ef704_2_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core problem we identified at Dennis Paul and Associates was that audit teams were spending significant time manually tracking documents from clients. Five key challenges emerged: delayed submissions with no automated alerts, staff spending hours on manual phone and email follow-ups, inconsistent risk assessment based on personal judgment, missed audit deadlines, and no central visibility of all outstanding submissions. Industry research suggests up to 40% of audit time can be spent on this type of administrative work.</a:t>
            </a:r>
            <a:endParaRPr/>
          </a:p>
        </p:txBody>
      </p:sp>
      <p:sp>
        <p:nvSpPr>
          <p:cNvPr id="85" name="Google Shape;85;g3ea114ef704_2_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a114ef704_2_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a114ef704_2_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Our inspiration came from Dennis Audit firm who happens to be my partner in this project. Dennis could ask: what if the entire document follow-up process could be automated? Our goal was to build an intelligent system that tracks documents, assesses risk using AI, drafts professional reminder emails, and routes them through a human approval gate before sending  all running automatically every morning.</a:t>
            </a:r>
            <a:endParaRPr/>
          </a:p>
        </p:txBody>
      </p:sp>
      <p:sp>
        <p:nvSpPr>
          <p:cNvPr id="128" name="Google Shape;128;g3ea114ef704_2_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a114ef704_2_1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ea114ef704_2_10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Our solution is a six-component automated workflow. It monitors Google Sheets for pending documents, uses an AI Classifier Agent to score risk as Low, Medium, or High based on days overdue, uses a second Email Drafter Agent to write tone-appropriate reminders, passes them through a manager approval gate before sending, logs all outcomes to Google Sheets, and has a separate error-handling workflow powered by AI that alerts the team if anything fails.</a:t>
            </a:r>
            <a:endParaRPr/>
          </a:p>
        </p:txBody>
      </p:sp>
      <p:sp>
        <p:nvSpPr>
          <p:cNvPr id="158" name="Google Shape;158;g3ea114ef704_2_10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a114ef704_2_1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ea114ef704_2_1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shows the complete system architecture. The workflow starts with the Schedule Trigger reading from Google Sheets at 8am daily. It calculates overdue days, filters only truly overdue records, runs them through the AI Classifier Agent which scores risk as Low, Medium, or High. The Email Drafter Agent then writes a tone-matched email. High and Medium risk emails go through a manager approval gate — the manager receives an email with approve or reject links. Once approved, the client email is sent and all outcomes are logged in both Google Sheets.</a:t>
            </a:r>
            <a:endParaRPr/>
          </a:p>
        </p:txBody>
      </p:sp>
      <p:sp>
        <p:nvSpPr>
          <p:cNvPr id="199" name="Google Shape;199;g3ea114ef704_2_1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a114ef704_2_2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ea114ef704_2_2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business value is significant. The five key features — automated monitoring, AI risk classification, smart email drafting, a human approval gate, and error handling — combine to deliver measurable benefits. We estimate an 80% reduction in manual follow-up time, 10x faster response to overdue documents, and consistent three-level risk classification across all clients. Crucially, the manager retains 100% oversight before any email reaches a client — this is not a fully automated system but an AI-assisted one.</a:t>
            </a:r>
            <a:endParaRPr/>
          </a:p>
        </p:txBody>
      </p:sp>
      <p:sp>
        <p:nvSpPr>
          <p:cNvPr id="263" name="Google Shape;263;g3ea114ef704_2_2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a114ef704_2_2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ea114ef704_2_24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 conclusion, this project proves that AI and workflow automation can meaningfully improve audit operations. We built a working system that handles document tracking, risk classification, email drafting, human approval, and audit logging — all running automatically. Looking ahead, we envision adding a real-time dashboard, WhatsApp notifications, predictive delay forecasting, a client self-service portal, and deeper integration with audit management platforms. Thank you — we welcome your questions.</a:t>
            </a:r>
            <a:endParaRPr/>
          </a:p>
        </p:txBody>
      </p:sp>
      <p:sp>
        <p:nvSpPr>
          <p:cNvPr id="302" name="Google Shape;302;g3ea114ef704_2_24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2.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34.png"/><Relationship Id="rId7"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31.png"/><Relationship Id="rId7" Type="http://schemas.openxmlformats.org/officeDocument/2006/relationships/image" Target="../media/image21.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21.png"/><Relationship Id="rId5" Type="http://schemas.openxmlformats.org/officeDocument/2006/relationships/image" Target="../media/image15.png"/><Relationship Id="rId6" Type="http://schemas.openxmlformats.org/officeDocument/2006/relationships/image" Target="../media/image27.png"/><Relationship Id="rId7" Type="http://schemas.openxmlformats.org/officeDocument/2006/relationships/image" Target="../media/image30.png"/><Relationship Id="rId8"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8.png"/><Relationship Id="rId5" Type="http://schemas.openxmlformats.org/officeDocument/2006/relationships/image" Target="../media/image5.png"/><Relationship Id="rId6" Type="http://schemas.openxmlformats.org/officeDocument/2006/relationships/image" Target="../media/image29.png"/><Relationship Id="rId7" Type="http://schemas.openxmlformats.org/officeDocument/2006/relationships/image" Target="../media/image37.png"/><Relationship Id="rId8"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D27"/>
        </a:solidFill>
      </p:bgPr>
    </p:bg>
    <p:spTree>
      <p:nvGrpSpPr>
        <p:cNvPr id="56" name="Shape 56"/>
        <p:cNvGrpSpPr/>
        <p:nvPr/>
      </p:nvGrpSpPr>
      <p:grpSpPr>
        <a:xfrm>
          <a:off x="0" y="0"/>
          <a:ext cx="0" cy="0"/>
          <a:chOff x="0" y="0"/>
          <a:chExt cx="0" cy="0"/>
        </a:xfrm>
      </p:grpSpPr>
      <p:sp>
        <p:nvSpPr>
          <p:cNvPr id="57" name="Google Shape;57;p15"/>
          <p:cNvSpPr/>
          <p:nvPr/>
        </p:nvSpPr>
        <p:spPr>
          <a:xfrm>
            <a:off x="0" y="0"/>
            <a:ext cx="5669280" cy="5143500"/>
          </a:xfrm>
          <a:prstGeom prst="rect">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5669280" y="0"/>
            <a:ext cx="3474720" cy="5143500"/>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0" y="0"/>
            <a:ext cx="5669280" cy="54864"/>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1679627" y="283325"/>
            <a:ext cx="28923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700"/>
              <a:buFont typeface="Calibri"/>
              <a:buNone/>
            </a:pPr>
            <a:r>
              <a:rPr b="1" lang="en" sz="2600">
                <a:solidFill>
                  <a:srgbClr val="F4A300"/>
                </a:solidFill>
                <a:latin typeface="Calibri"/>
                <a:ea typeface="Calibri"/>
                <a:cs typeface="Calibri"/>
                <a:sym typeface="Calibri"/>
              </a:rPr>
              <a:t>MORINGA SCHOOL</a:t>
            </a:r>
            <a:endParaRPr b="0" i="0" sz="2600" u="none" cap="none" strike="noStrike">
              <a:solidFill>
                <a:schemeClr val="dk1"/>
              </a:solidFill>
              <a:latin typeface="Calibri"/>
              <a:ea typeface="Calibri"/>
              <a:cs typeface="Calibri"/>
              <a:sym typeface="Calibri"/>
            </a:endParaRPr>
          </a:p>
        </p:txBody>
      </p:sp>
      <p:sp>
        <p:nvSpPr>
          <p:cNvPr id="61" name="Google Shape;61;p15"/>
          <p:cNvSpPr/>
          <p:nvPr/>
        </p:nvSpPr>
        <p:spPr>
          <a:xfrm>
            <a:off x="365760" y="1005840"/>
            <a:ext cx="51207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 sz="3400" u="none" cap="none" strike="noStrike">
                <a:solidFill>
                  <a:srgbClr val="FFFFFF"/>
                </a:solidFill>
                <a:latin typeface="Calibri"/>
                <a:ea typeface="Calibri"/>
                <a:cs typeface="Calibri"/>
                <a:sym typeface="Calibri"/>
              </a:rPr>
              <a:t>AI-Powered Audit</a:t>
            </a:r>
            <a:endParaRPr b="0" i="0" sz="3400" u="none" cap="none" strike="noStrike">
              <a:solidFill>
                <a:schemeClr val="dk1"/>
              </a:solidFill>
              <a:latin typeface="Calibri"/>
              <a:ea typeface="Calibri"/>
              <a:cs typeface="Calibri"/>
              <a:sym typeface="Calibri"/>
            </a:endParaRPr>
          </a:p>
        </p:txBody>
      </p:sp>
      <p:sp>
        <p:nvSpPr>
          <p:cNvPr id="62" name="Google Shape;62;p15"/>
          <p:cNvSpPr/>
          <p:nvPr/>
        </p:nvSpPr>
        <p:spPr>
          <a:xfrm>
            <a:off x="365760" y="1600200"/>
            <a:ext cx="51206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 sz="3400" u="none" cap="none" strike="noStrike">
                <a:solidFill>
                  <a:srgbClr val="FFFFFF"/>
                </a:solidFill>
                <a:latin typeface="Calibri"/>
                <a:ea typeface="Calibri"/>
                <a:cs typeface="Calibri"/>
                <a:sym typeface="Calibri"/>
              </a:rPr>
              <a:t>Document Tracking &amp;</a:t>
            </a:r>
            <a:endParaRPr b="0" i="0" sz="3400" u="none" cap="none" strike="noStrike">
              <a:solidFill>
                <a:schemeClr val="dk1"/>
              </a:solidFill>
              <a:latin typeface="Calibri"/>
              <a:ea typeface="Calibri"/>
              <a:cs typeface="Calibri"/>
              <a:sym typeface="Calibri"/>
            </a:endParaRPr>
          </a:p>
        </p:txBody>
      </p:sp>
      <p:sp>
        <p:nvSpPr>
          <p:cNvPr id="63" name="Google Shape;63;p15"/>
          <p:cNvSpPr/>
          <p:nvPr/>
        </p:nvSpPr>
        <p:spPr>
          <a:xfrm>
            <a:off x="365760" y="2176272"/>
            <a:ext cx="51206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3400"/>
              <a:buFont typeface="Calibri"/>
              <a:buNone/>
            </a:pPr>
            <a:r>
              <a:rPr b="1" lang="en" sz="3400">
                <a:solidFill>
                  <a:srgbClr val="F4A300"/>
                </a:solidFill>
                <a:latin typeface="Calibri"/>
                <a:ea typeface="Calibri"/>
                <a:cs typeface="Calibri"/>
                <a:sym typeface="Calibri"/>
              </a:rPr>
              <a:t>Follow-up</a:t>
            </a:r>
            <a:endParaRPr b="0" i="0" sz="3400" u="none" cap="none" strike="noStrike">
              <a:solidFill>
                <a:schemeClr val="dk1"/>
              </a:solidFill>
              <a:latin typeface="Calibri"/>
              <a:ea typeface="Calibri"/>
              <a:cs typeface="Calibri"/>
              <a:sym typeface="Calibri"/>
            </a:endParaRPr>
          </a:p>
        </p:txBody>
      </p:sp>
      <p:sp>
        <p:nvSpPr>
          <p:cNvPr id="64" name="Google Shape;64;p15"/>
          <p:cNvSpPr/>
          <p:nvPr/>
        </p:nvSpPr>
        <p:spPr>
          <a:xfrm>
            <a:off x="365760" y="2907792"/>
            <a:ext cx="1097280" cy="45720"/>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365760" y="306324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1300"/>
              <a:buFont typeface="Calibri"/>
              <a:buNone/>
            </a:pPr>
            <a:r>
              <a:rPr b="0" i="0" lang="en" sz="2000" u="none" cap="none" strike="noStrike">
                <a:solidFill>
                  <a:srgbClr val="A8D5B5"/>
                </a:solidFill>
                <a:latin typeface="Calibri"/>
                <a:ea typeface="Calibri"/>
                <a:cs typeface="Calibri"/>
                <a:sym typeface="Calibri"/>
              </a:rPr>
              <a:t>Week 10 Capstone Project</a:t>
            </a:r>
            <a:endParaRPr b="0" i="0" sz="2000" u="none" cap="none" strike="noStrike">
              <a:solidFill>
                <a:schemeClr val="dk1"/>
              </a:solidFill>
              <a:latin typeface="Calibri"/>
              <a:ea typeface="Calibri"/>
              <a:cs typeface="Calibri"/>
              <a:sym typeface="Calibri"/>
            </a:endParaRPr>
          </a:p>
        </p:txBody>
      </p:sp>
      <p:sp>
        <p:nvSpPr>
          <p:cNvPr id="66" name="Google Shape;66;p15"/>
          <p:cNvSpPr/>
          <p:nvPr/>
        </p:nvSpPr>
        <p:spPr>
          <a:xfrm>
            <a:off x="365760" y="3401568"/>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 sz="2200" u="none" cap="none" strike="noStrike">
                <a:solidFill>
                  <a:srgbClr val="FFFFFF"/>
                </a:solidFill>
                <a:latin typeface="Calibri"/>
                <a:ea typeface="Calibri"/>
                <a:cs typeface="Calibri"/>
                <a:sym typeface="Calibri"/>
              </a:rPr>
              <a:t>Dennis Paul  ·  Leilah Kokoyo</a:t>
            </a:r>
            <a:endParaRPr b="0" i="0" sz="2200" u="none" cap="none" strike="noStrike">
              <a:solidFill>
                <a:schemeClr val="dk1"/>
              </a:solidFill>
              <a:latin typeface="Calibri"/>
              <a:ea typeface="Calibri"/>
              <a:cs typeface="Calibri"/>
              <a:sym typeface="Calibri"/>
            </a:endParaRPr>
          </a:p>
        </p:txBody>
      </p:sp>
      <p:sp>
        <p:nvSpPr>
          <p:cNvPr id="67" name="Google Shape;67;p15"/>
          <p:cNvSpPr/>
          <p:nvPr/>
        </p:nvSpPr>
        <p:spPr>
          <a:xfrm>
            <a:off x="365760" y="3749040"/>
            <a:ext cx="5029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1100"/>
              <a:buFont typeface="Calibri"/>
              <a:buNone/>
            </a:pPr>
            <a:r>
              <a:rPr b="0" i="0" lang="en" sz="1800" u="none" cap="none" strike="noStrike">
                <a:solidFill>
                  <a:srgbClr val="A8D5B5"/>
                </a:solidFill>
                <a:latin typeface="Calibri"/>
                <a:ea typeface="Calibri"/>
                <a:cs typeface="Calibri"/>
                <a:sym typeface="Calibri"/>
              </a:rPr>
              <a:t>Workflow Automation Programme</a:t>
            </a:r>
            <a:endParaRPr b="0" i="0" sz="2300" u="none" cap="none" strike="noStrike">
              <a:solidFill>
                <a:schemeClr val="dk1"/>
              </a:solidFill>
              <a:latin typeface="Calibri"/>
              <a:ea typeface="Calibri"/>
              <a:cs typeface="Calibri"/>
              <a:sym typeface="Calibri"/>
            </a:endParaRPr>
          </a:p>
        </p:txBody>
      </p:sp>
      <p:sp>
        <p:nvSpPr>
          <p:cNvPr id="68" name="Google Shape;68;p15"/>
          <p:cNvSpPr/>
          <p:nvPr/>
        </p:nvSpPr>
        <p:spPr>
          <a:xfrm>
            <a:off x="6144768" y="932688"/>
            <a:ext cx="694944" cy="694944"/>
          </a:xfrm>
          <a:prstGeom prst="ellipse">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15"/>
          <p:cNvPicPr preferRelativeResize="0"/>
          <p:nvPr/>
        </p:nvPicPr>
        <p:blipFill rotWithShape="1">
          <a:blip r:embed="rId3">
            <a:alphaModFix/>
          </a:blip>
          <a:srcRect b="0" l="0" r="0" t="0"/>
          <a:stretch/>
        </p:blipFill>
        <p:spPr>
          <a:xfrm>
            <a:off x="6266383" y="1054303"/>
            <a:ext cx="451714" cy="451714"/>
          </a:xfrm>
          <a:prstGeom prst="rect">
            <a:avLst/>
          </a:prstGeom>
          <a:noFill/>
          <a:ln>
            <a:noFill/>
          </a:ln>
        </p:spPr>
      </p:pic>
      <p:sp>
        <p:nvSpPr>
          <p:cNvPr id="70" name="Google Shape;70;p15"/>
          <p:cNvSpPr/>
          <p:nvPr/>
        </p:nvSpPr>
        <p:spPr>
          <a:xfrm>
            <a:off x="7424928" y="475488"/>
            <a:ext cx="694944" cy="694944"/>
          </a:xfrm>
          <a:prstGeom prst="ellipse">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15"/>
          <p:cNvPicPr preferRelativeResize="0"/>
          <p:nvPr/>
        </p:nvPicPr>
        <p:blipFill rotWithShape="1">
          <a:blip r:embed="rId4">
            <a:alphaModFix/>
          </a:blip>
          <a:srcRect b="0" l="0" r="0" t="0"/>
          <a:stretch/>
        </p:blipFill>
        <p:spPr>
          <a:xfrm>
            <a:off x="7546543" y="597103"/>
            <a:ext cx="451714" cy="451714"/>
          </a:xfrm>
          <a:prstGeom prst="rect">
            <a:avLst/>
          </a:prstGeom>
          <a:noFill/>
          <a:ln>
            <a:noFill/>
          </a:ln>
        </p:spPr>
      </p:pic>
      <p:sp>
        <p:nvSpPr>
          <p:cNvPr id="72" name="Google Shape;72;p15"/>
          <p:cNvSpPr/>
          <p:nvPr/>
        </p:nvSpPr>
        <p:spPr>
          <a:xfrm>
            <a:off x="7790688" y="1847088"/>
            <a:ext cx="694944" cy="694944"/>
          </a:xfrm>
          <a:prstGeom prst="ellipse">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15"/>
          <p:cNvPicPr preferRelativeResize="0"/>
          <p:nvPr/>
        </p:nvPicPr>
        <p:blipFill rotWithShape="1">
          <a:blip r:embed="rId5">
            <a:alphaModFix/>
          </a:blip>
          <a:srcRect b="0" l="0" r="0" t="0"/>
          <a:stretch/>
        </p:blipFill>
        <p:spPr>
          <a:xfrm>
            <a:off x="7912303" y="1968703"/>
            <a:ext cx="451714" cy="451714"/>
          </a:xfrm>
          <a:prstGeom prst="rect">
            <a:avLst/>
          </a:prstGeom>
          <a:noFill/>
          <a:ln>
            <a:noFill/>
          </a:ln>
        </p:spPr>
      </p:pic>
      <p:sp>
        <p:nvSpPr>
          <p:cNvPr id="74" name="Google Shape;74;p15"/>
          <p:cNvSpPr/>
          <p:nvPr/>
        </p:nvSpPr>
        <p:spPr>
          <a:xfrm>
            <a:off x="6053328" y="2487168"/>
            <a:ext cx="694944" cy="694944"/>
          </a:xfrm>
          <a:prstGeom prst="ellipse">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15"/>
          <p:cNvPicPr preferRelativeResize="0"/>
          <p:nvPr/>
        </p:nvPicPr>
        <p:blipFill rotWithShape="1">
          <a:blip r:embed="rId6">
            <a:alphaModFix/>
          </a:blip>
          <a:srcRect b="0" l="0" r="0" t="0"/>
          <a:stretch/>
        </p:blipFill>
        <p:spPr>
          <a:xfrm>
            <a:off x="6174943" y="2608783"/>
            <a:ext cx="451714" cy="451714"/>
          </a:xfrm>
          <a:prstGeom prst="rect">
            <a:avLst/>
          </a:prstGeom>
          <a:noFill/>
          <a:ln>
            <a:noFill/>
          </a:ln>
        </p:spPr>
      </p:pic>
      <p:sp>
        <p:nvSpPr>
          <p:cNvPr id="76" name="Google Shape;76;p15"/>
          <p:cNvSpPr/>
          <p:nvPr/>
        </p:nvSpPr>
        <p:spPr>
          <a:xfrm>
            <a:off x="7333488" y="3035808"/>
            <a:ext cx="694944" cy="694944"/>
          </a:xfrm>
          <a:prstGeom prst="ellipse">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15"/>
          <p:cNvPicPr preferRelativeResize="0"/>
          <p:nvPr/>
        </p:nvPicPr>
        <p:blipFill rotWithShape="1">
          <a:blip r:embed="rId7">
            <a:alphaModFix/>
          </a:blip>
          <a:srcRect b="0" l="0" r="0" t="0"/>
          <a:stretch/>
        </p:blipFill>
        <p:spPr>
          <a:xfrm>
            <a:off x="7455103" y="3157423"/>
            <a:ext cx="451714" cy="451714"/>
          </a:xfrm>
          <a:prstGeom prst="rect">
            <a:avLst/>
          </a:prstGeom>
          <a:noFill/>
          <a:ln>
            <a:noFill/>
          </a:ln>
        </p:spPr>
      </p:pic>
      <p:cxnSp>
        <p:nvCxnSpPr>
          <p:cNvPr id="78" name="Google Shape;78;p15"/>
          <p:cNvCxnSpPr/>
          <p:nvPr/>
        </p:nvCxnSpPr>
        <p:spPr>
          <a:xfrm>
            <a:off x="6492240" y="1627632"/>
            <a:ext cx="0" cy="1207008"/>
          </a:xfrm>
          <a:prstGeom prst="straightConnector1">
            <a:avLst/>
          </a:prstGeom>
          <a:noFill/>
          <a:ln cap="flat" cmpd="sng" w="12700">
            <a:solidFill>
              <a:srgbClr val="F4A300"/>
            </a:solidFill>
            <a:prstDash val="dash"/>
            <a:round/>
            <a:headEnd len="sm" w="sm" type="none"/>
            <a:tailEnd len="sm" w="sm" type="none"/>
          </a:ln>
        </p:spPr>
      </p:cxnSp>
      <p:cxnSp>
        <p:nvCxnSpPr>
          <p:cNvPr id="79" name="Google Shape;79;p15"/>
          <p:cNvCxnSpPr/>
          <p:nvPr/>
        </p:nvCxnSpPr>
        <p:spPr>
          <a:xfrm>
            <a:off x="6492240" y="2834640"/>
            <a:ext cx="1188720" cy="0"/>
          </a:xfrm>
          <a:prstGeom prst="straightConnector1">
            <a:avLst/>
          </a:prstGeom>
          <a:noFill/>
          <a:ln cap="flat" cmpd="sng" w="12700">
            <a:solidFill>
              <a:srgbClr val="F4A300"/>
            </a:solidFill>
            <a:prstDash val="dash"/>
            <a:round/>
            <a:headEnd len="sm" w="sm" type="none"/>
            <a:tailEnd len="sm" w="sm" type="none"/>
          </a:ln>
        </p:spPr>
      </p:cxnSp>
      <p:cxnSp>
        <p:nvCxnSpPr>
          <p:cNvPr id="80" name="Google Shape;80;p15"/>
          <p:cNvCxnSpPr/>
          <p:nvPr/>
        </p:nvCxnSpPr>
        <p:spPr>
          <a:xfrm>
            <a:off x="7772400" y="1170432"/>
            <a:ext cx="365760" cy="0"/>
          </a:xfrm>
          <a:prstGeom prst="straightConnector1">
            <a:avLst/>
          </a:prstGeom>
          <a:noFill/>
          <a:ln cap="flat" cmpd="sng" w="12700">
            <a:solidFill>
              <a:srgbClr val="F4A300"/>
            </a:solidFill>
            <a:prstDash val="dash"/>
            <a:round/>
            <a:headEnd len="sm" w="sm" type="none"/>
            <a:tailEnd len="sm" w="sm" type="none"/>
          </a:ln>
        </p:spPr>
      </p:cxnSp>
      <p:sp>
        <p:nvSpPr>
          <p:cNvPr id="81" name="Google Shape;81;p15"/>
          <p:cNvSpPr/>
          <p:nvPr/>
        </p:nvSpPr>
        <p:spPr>
          <a:xfrm>
            <a:off x="0" y="4754880"/>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AB85"/>
              </a:buClr>
              <a:buSzPts val="900"/>
              <a:buFont typeface="Calibri"/>
              <a:buNone/>
            </a:pPr>
            <a:r>
              <a:rPr b="0" i="0" lang="en" sz="2000" u="none" cap="none" strike="noStrike">
                <a:solidFill>
                  <a:srgbClr val="6AAB85"/>
                </a:solidFill>
                <a:latin typeface="Calibri"/>
                <a:ea typeface="Calibri"/>
                <a:cs typeface="Calibri"/>
                <a:sym typeface="Calibri"/>
              </a:rPr>
              <a:t>n8n  ·  Mistral AI  ·  Google Sheets  ·  Gmail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16"/>
          <p:cNvSpPr/>
          <p:nvPr/>
        </p:nvSpPr>
        <p:spPr>
          <a:xfrm>
            <a:off x="0" y="0"/>
            <a:ext cx="9144000" cy="1005840"/>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457200" y="182880"/>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900"/>
              <a:buFont typeface="Calibri"/>
              <a:buNone/>
            </a:pPr>
            <a:r>
              <a:rPr b="1" i="0" lang="en" sz="1800" u="none" cap="none" strike="noStrike">
                <a:solidFill>
                  <a:srgbClr val="F4A300"/>
                </a:solidFill>
                <a:latin typeface="Calibri"/>
                <a:ea typeface="Calibri"/>
                <a:cs typeface="Calibri"/>
                <a:sym typeface="Calibri"/>
              </a:rPr>
              <a:t>PROBLEM STATEMENT</a:t>
            </a:r>
            <a:endParaRPr b="0" i="0" sz="1800" u="none" cap="none" strike="noStrike">
              <a:solidFill>
                <a:schemeClr val="dk1"/>
              </a:solidFill>
              <a:latin typeface="Calibri"/>
              <a:ea typeface="Calibri"/>
              <a:cs typeface="Calibri"/>
              <a:sym typeface="Calibri"/>
            </a:endParaRPr>
          </a:p>
        </p:txBody>
      </p:sp>
      <p:sp>
        <p:nvSpPr>
          <p:cNvPr id="89" name="Google Shape;89;p16"/>
          <p:cNvSpPr/>
          <p:nvPr/>
        </p:nvSpPr>
        <p:spPr>
          <a:xfrm>
            <a:off x="320050" y="336882"/>
            <a:ext cx="82296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 sz="3700" u="none" cap="none" strike="noStrike">
                <a:solidFill>
                  <a:srgbClr val="FFFFFF"/>
                </a:solidFill>
                <a:latin typeface="Calibri"/>
                <a:ea typeface="Calibri"/>
                <a:cs typeface="Calibri"/>
                <a:sym typeface="Calibri"/>
              </a:rPr>
              <a:t>The Problem</a:t>
            </a:r>
            <a:endParaRPr b="0" i="0" sz="3700" u="none" cap="none" strike="noStrike">
              <a:solidFill>
                <a:schemeClr val="dk1"/>
              </a:solidFill>
              <a:latin typeface="Calibri"/>
              <a:ea typeface="Calibri"/>
              <a:cs typeface="Calibri"/>
              <a:sym typeface="Calibri"/>
            </a:endParaRPr>
          </a:p>
        </p:txBody>
      </p:sp>
      <p:sp>
        <p:nvSpPr>
          <p:cNvPr id="90" name="Google Shape;90;p16"/>
          <p:cNvSpPr/>
          <p:nvPr/>
        </p:nvSpPr>
        <p:spPr>
          <a:xfrm>
            <a:off x="411475" y="1060013"/>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350"/>
              <a:buFont typeface="Calibri"/>
              <a:buNone/>
            </a:pPr>
            <a:r>
              <a:rPr lang="en" sz="1950">
                <a:solidFill>
                  <a:srgbClr val="444444"/>
                </a:solidFill>
                <a:latin typeface="Calibri"/>
                <a:ea typeface="Calibri"/>
                <a:cs typeface="Calibri"/>
                <a:sym typeface="Calibri"/>
              </a:rPr>
              <a:t>Dennis Paul and Associates </a:t>
            </a:r>
            <a:r>
              <a:rPr b="0" i="0" lang="en" sz="1950" u="none" cap="none" strike="noStrike">
                <a:solidFill>
                  <a:srgbClr val="444444"/>
                </a:solidFill>
                <a:latin typeface="Calibri"/>
                <a:ea typeface="Calibri"/>
                <a:cs typeface="Calibri"/>
                <a:sym typeface="Calibri"/>
              </a:rPr>
              <a:t>Audit </a:t>
            </a:r>
            <a:r>
              <a:rPr lang="en" sz="1950">
                <a:solidFill>
                  <a:srgbClr val="444444"/>
                </a:solidFill>
                <a:latin typeface="Calibri"/>
                <a:ea typeface="Calibri"/>
                <a:cs typeface="Calibri"/>
                <a:sym typeface="Calibri"/>
              </a:rPr>
              <a:t>Firm spends</a:t>
            </a:r>
            <a:r>
              <a:rPr b="0" i="0" lang="en" sz="1950" u="none" cap="none" strike="noStrike">
                <a:solidFill>
                  <a:srgbClr val="444444"/>
                </a:solidFill>
                <a:latin typeface="Calibri"/>
                <a:ea typeface="Calibri"/>
                <a:cs typeface="Calibri"/>
                <a:sym typeface="Calibri"/>
              </a:rPr>
              <a:t> significant time manually tracking outstanding client documents, creating costly inefficiencies.</a:t>
            </a:r>
            <a:endParaRPr b="0" i="0" sz="1950" u="none" cap="none" strike="noStrike">
              <a:solidFill>
                <a:schemeClr val="dk1"/>
              </a:solidFill>
              <a:latin typeface="Calibri"/>
              <a:ea typeface="Calibri"/>
              <a:cs typeface="Calibri"/>
              <a:sym typeface="Calibri"/>
            </a:endParaRPr>
          </a:p>
        </p:txBody>
      </p:sp>
      <p:sp>
        <p:nvSpPr>
          <p:cNvPr id="91" name="Google Shape;91;p16"/>
          <p:cNvSpPr/>
          <p:nvPr/>
        </p:nvSpPr>
        <p:spPr>
          <a:xfrm>
            <a:off x="320040" y="1691640"/>
            <a:ext cx="1572768" cy="2606040"/>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320040" y="1691640"/>
            <a:ext cx="1572768" cy="82296"/>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16"/>
          <p:cNvPicPr preferRelativeResize="0"/>
          <p:nvPr/>
        </p:nvPicPr>
        <p:blipFill rotWithShape="1">
          <a:blip r:embed="rId3">
            <a:alphaModFix/>
          </a:blip>
          <a:srcRect b="0" l="0" r="0" t="0"/>
          <a:stretch/>
        </p:blipFill>
        <p:spPr>
          <a:xfrm>
            <a:off x="877824" y="1874520"/>
            <a:ext cx="457200" cy="457200"/>
          </a:xfrm>
          <a:prstGeom prst="rect">
            <a:avLst/>
          </a:prstGeom>
          <a:noFill/>
          <a:ln>
            <a:noFill/>
          </a:ln>
        </p:spPr>
      </p:pic>
      <p:sp>
        <p:nvSpPr>
          <p:cNvPr id="94" name="Google Shape;94;p16"/>
          <p:cNvSpPr/>
          <p:nvPr/>
        </p:nvSpPr>
        <p:spPr>
          <a:xfrm>
            <a:off x="374904" y="2404872"/>
            <a:ext cx="146304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500" u="none" cap="none" strike="noStrike">
                <a:solidFill>
                  <a:srgbClr val="0B5D3B"/>
                </a:solidFill>
                <a:latin typeface="Calibri"/>
                <a:ea typeface="Calibri"/>
                <a:cs typeface="Calibri"/>
                <a:sym typeface="Calibri"/>
              </a:rPr>
              <a:t>Delayed Submissions</a:t>
            </a:r>
            <a:endParaRPr b="0" i="0" sz="1500" u="none" cap="none" strike="noStrike">
              <a:solidFill>
                <a:schemeClr val="dk1"/>
              </a:solidFill>
              <a:latin typeface="Calibri"/>
              <a:ea typeface="Calibri"/>
              <a:cs typeface="Calibri"/>
              <a:sym typeface="Calibri"/>
            </a:endParaRPr>
          </a:p>
        </p:txBody>
      </p:sp>
      <p:sp>
        <p:nvSpPr>
          <p:cNvPr id="95" name="Google Shape;95;p16"/>
          <p:cNvSpPr/>
          <p:nvPr/>
        </p:nvSpPr>
        <p:spPr>
          <a:xfrm>
            <a:off x="374900" y="3072276"/>
            <a:ext cx="1463100" cy="110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650" u="none" cap="none" strike="noStrike">
                <a:solidFill>
                  <a:srgbClr val="444444"/>
                </a:solidFill>
                <a:latin typeface="Calibri"/>
                <a:ea typeface="Calibri"/>
                <a:cs typeface="Calibri"/>
                <a:sym typeface="Calibri"/>
              </a:rPr>
              <a:t>Clients miss deadlines with no automated alerts</a:t>
            </a:r>
            <a:endParaRPr b="0" i="0" sz="1650" u="none" cap="none" strike="noStrike">
              <a:solidFill>
                <a:schemeClr val="dk1"/>
              </a:solidFill>
              <a:latin typeface="Calibri"/>
              <a:ea typeface="Calibri"/>
              <a:cs typeface="Calibri"/>
              <a:sym typeface="Calibri"/>
            </a:endParaRPr>
          </a:p>
        </p:txBody>
      </p:sp>
      <p:sp>
        <p:nvSpPr>
          <p:cNvPr id="96" name="Google Shape;96;p16"/>
          <p:cNvSpPr/>
          <p:nvPr/>
        </p:nvSpPr>
        <p:spPr>
          <a:xfrm>
            <a:off x="2029968" y="1691640"/>
            <a:ext cx="1572768" cy="2606040"/>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2029968" y="1691640"/>
            <a:ext cx="1572768" cy="82296"/>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16"/>
          <p:cNvPicPr preferRelativeResize="0"/>
          <p:nvPr/>
        </p:nvPicPr>
        <p:blipFill rotWithShape="1">
          <a:blip r:embed="rId4">
            <a:alphaModFix/>
          </a:blip>
          <a:srcRect b="0" l="0" r="0" t="0"/>
          <a:stretch/>
        </p:blipFill>
        <p:spPr>
          <a:xfrm>
            <a:off x="2587752" y="1874520"/>
            <a:ext cx="457200" cy="457200"/>
          </a:xfrm>
          <a:prstGeom prst="rect">
            <a:avLst/>
          </a:prstGeom>
          <a:noFill/>
          <a:ln>
            <a:noFill/>
          </a:ln>
        </p:spPr>
      </p:pic>
      <p:sp>
        <p:nvSpPr>
          <p:cNvPr id="99" name="Google Shape;99;p16"/>
          <p:cNvSpPr/>
          <p:nvPr/>
        </p:nvSpPr>
        <p:spPr>
          <a:xfrm>
            <a:off x="2084832" y="2404872"/>
            <a:ext cx="146304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500" u="none" cap="none" strike="noStrike">
                <a:solidFill>
                  <a:srgbClr val="0B5D3B"/>
                </a:solidFill>
                <a:latin typeface="Calibri"/>
                <a:ea typeface="Calibri"/>
                <a:cs typeface="Calibri"/>
                <a:sym typeface="Calibri"/>
              </a:rPr>
              <a:t>Manual Follow-ups</a:t>
            </a:r>
            <a:endParaRPr b="0" i="0" sz="1500" u="none" cap="none" strike="noStrike">
              <a:solidFill>
                <a:schemeClr val="dk1"/>
              </a:solidFill>
              <a:latin typeface="Calibri"/>
              <a:ea typeface="Calibri"/>
              <a:cs typeface="Calibri"/>
              <a:sym typeface="Calibri"/>
            </a:endParaRPr>
          </a:p>
        </p:txBody>
      </p:sp>
      <p:sp>
        <p:nvSpPr>
          <p:cNvPr id="100" name="Google Shape;100;p16"/>
          <p:cNvSpPr/>
          <p:nvPr/>
        </p:nvSpPr>
        <p:spPr>
          <a:xfrm>
            <a:off x="2084825" y="3037401"/>
            <a:ext cx="1463100" cy="1141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650" u="none" cap="none" strike="noStrike">
                <a:solidFill>
                  <a:srgbClr val="444444"/>
                </a:solidFill>
                <a:latin typeface="Calibri"/>
                <a:ea typeface="Calibri"/>
                <a:cs typeface="Calibri"/>
                <a:sym typeface="Calibri"/>
              </a:rPr>
              <a:t>Staff spend hours chasing documents by phone/email</a:t>
            </a:r>
            <a:endParaRPr b="0" i="0" sz="1650" u="none" cap="none" strike="noStrike">
              <a:solidFill>
                <a:schemeClr val="dk1"/>
              </a:solidFill>
              <a:latin typeface="Calibri"/>
              <a:ea typeface="Calibri"/>
              <a:cs typeface="Calibri"/>
              <a:sym typeface="Calibri"/>
            </a:endParaRPr>
          </a:p>
        </p:txBody>
      </p:sp>
      <p:sp>
        <p:nvSpPr>
          <p:cNvPr id="101" name="Google Shape;101;p16"/>
          <p:cNvSpPr/>
          <p:nvPr/>
        </p:nvSpPr>
        <p:spPr>
          <a:xfrm>
            <a:off x="3739896" y="1691640"/>
            <a:ext cx="1572768" cy="2606040"/>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3739896" y="1691640"/>
            <a:ext cx="1572768" cy="82296"/>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16"/>
          <p:cNvPicPr preferRelativeResize="0"/>
          <p:nvPr/>
        </p:nvPicPr>
        <p:blipFill rotWithShape="1">
          <a:blip r:embed="rId5">
            <a:alphaModFix/>
          </a:blip>
          <a:srcRect b="0" l="0" r="0" t="0"/>
          <a:stretch/>
        </p:blipFill>
        <p:spPr>
          <a:xfrm>
            <a:off x="4297680" y="1874520"/>
            <a:ext cx="457200" cy="457200"/>
          </a:xfrm>
          <a:prstGeom prst="rect">
            <a:avLst/>
          </a:prstGeom>
          <a:noFill/>
          <a:ln>
            <a:noFill/>
          </a:ln>
        </p:spPr>
      </p:pic>
      <p:sp>
        <p:nvSpPr>
          <p:cNvPr id="104" name="Google Shape;104;p16"/>
          <p:cNvSpPr/>
          <p:nvPr/>
        </p:nvSpPr>
        <p:spPr>
          <a:xfrm>
            <a:off x="3794760" y="2404872"/>
            <a:ext cx="146304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500" u="none" cap="none" strike="noStrike">
                <a:solidFill>
                  <a:srgbClr val="0B5D3B"/>
                </a:solidFill>
                <a:latin typeface="Calibri"/>
                <a:ea typeface="Calibri"/>
                <a:cs typeface="Calibri"/>
                <a:sym typeface="Calibri"/>
              </a:rPr>
              <a:t>Inconsistent Risk Scoring</a:t>
            </a:r>
            <a:endParaRPr b="0" i="0" sz="1500" u="none" cap="none" strike="noStrike">
              <a:solidFill>
                <a:schemeClr val="dk1"/>
              </a:solidFill>
              <a:latin typeface="Calibri"/>
              <a:ea typeface="Calibri"/>
              <a:cs typeface="Calibri"/>
              <a:sym typeface="Calibri"/>
            </a:endParaRPr>
          </a:p>
        </p:txBody>
      </p:sp>
      <p:sp>
        <p:nvSpPr>
          <p:cNvPr id="105" name="Google Shape;105;p16"/>
          <p:cNvSpPr/>
          <p:nvPr/>
        </p:nvSpPr>
        <p:spPr>
          <a:xfrm>
            <a:off x="3794750" y="3037451"/>
            <a:ext cx="1463100" cy="1141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650" u="none" cap="none" strike="noStrike">
                <a:solidFill>
                  <a:srgbClr val="444444"/>
                </a:solidFill>
                <a:latin typeface="Calibri"/>
                <a:ea typeface="Calibri"/>
                <a:cs typeface="Calibri"/>
                <a:sym typeface="Calibri"/>
              </a:rPr>
              <a:t>Risk assessed subjectively, not systematically</a:t>
            </a:r>
            <a:endParaRPr b="0" i="0" sz="1650" u="none" cap="none" strike="noStrike">
              <a:solidFill>
                <a:schemeClr val="dk1"/>
              </a:solidFill>
              <a:latin typeface="Calibri"/>
              <a:ea typeface="Calibri"/>
              <a:cs typeface="Calibri"/>
              <a:sym typeface="Calibri"/>
            </a:endParaRPr>
          </a:p>
        </p:txBody>
      </p:sp>
      <p:sp>
        <p:nvSpPr>
          <p:cNvPr id="106" name="Google Shape;106;p16"/>
          <p:cNvSpPr/>
          <p:nvPr/>
        </p:nvSpPr>
        <p:spPr>
          <a:xfrm>
            <a:off x="5449824" y="1691640"/>
            <a:ext cx="1572768" cy="2606040"/>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5449824" y="1691640"/>
            <a:ext cx="1572768" cy="82296"/>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16"/>
          <p:cNvPicPr preferRelativeResize="0"/>
          <p:nvPr/>
        </p:nvPicPr>
        <p:blipFill rotWithShape="1">
          <a:blip r:embed="rId6">
            <a:alphaModFix/>
          </a:blip>
          <a:srcRect b="0" l="0" r="0" t="0"/>
          <a:stretch/>
        </p:blipFill>
        <p:spPr>
          <a:xfrm>
            <a:off x="6007608" y="1874520"/>
            <a:ext cx="457200" cy="457200"/>
          </a:xfrm>
          <a:prstGeom prst="rect">
            <a:avLst/>
          </a:prstGeom>
          <a:noFill/>
          <a:ln>
            <a:noFill/>
          </a:ln>
        </p:spPr>
      </p:pic>
      <p:sp>
        <p:nvSpPr>
          <p:cNvPr id="109" name="Google Shape;109;p16"/>
          <p:cNvSpPr/>
          <p:nvPr/>
        </p:nvSpPr>
        <p:spPr>
          <a:xfrm>
            <a:off x="5504688" y="2404872"/>
            <a:ext cx="146304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500" u="none" cap="none" strike="noStrike">
                <a:solidFill>
                  <a:srgbClr val="0B5D3B"/>
                </a:solidFill>
                <a:latin typeface="Calibri"/>
                <a:ea typeface="Calibri"/>
                <a:cs typeface="Calibri"/>
                <a:sym typeface="Calibri"/>
              </a:rPr>
              <a:t>Missed Deadlines</a:t>
            </a:r>
            <a:endParaRPr b="0" i="0" sz="1500" u="none" cap="none" strike="noStrike">
              <a:solidFill>
                <a:schemeClr val="dk1"/>
              </a:solidFill>
              <a:latin typeface="Calibri"/>
              <a:ea typeface="Calibri"/>
              <a:cs typeface="Calibri"/>
              <a:sym typeface="Calibri"/>
            </a:endParaRPr>
          </a:p>
        </p:txBody>
      </p:sp>
      <p:sp>
        <p:nvSpPr>
          <p:cNvPr id="110" name="Google Shape;110;p16"/>
          <p:cNvSpPr/>
          <p:nvPr/>
        </p:nvSpPr>
        <p:spPr>
          <a:xfrm>
            <a:off x="5504700" y="3072251"/>
            <a:ext cx="1463100" cy="110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650" u="none" cap="none" strike="noStrike">
                <a:solidFill>
                  <a:srgbClr val="444444"/>
                </a:solidFill>
                <a:latin typeface="Calibri"/>
                <a:ea typeface="Calibri"/>
                <a:cs typeface="Calibri"/>
                <a:sym typeface="Calibri"/>
              </a:rPr>
              <a:t>Audit timelines slip due to missing documents</a:t>
            </a:r>
            <a:endParaRPr b="0" i="0" sz="1650" u="none" cap="none" strike="noStrike">
              <a:solidFill>
                <a:schemeClr val="dk1"/>
              </a:solidFill>
              <a:latin typeface="Calibri"/>
              <a:ea typeface="Calibri"/>
              <a:cs typeface="Calibri"/>
              <a:sym typeface="Calibri"/>
            </a:endParaRPr>
          </a:p>
        </p:txBody>
      </p:sp>
      <p:sp>
        <p:nvSpPr>
          <p:cNvPr id="111" name="Google Shape;111;p16"/>
          <p:cNvSpPr/>
          <p:nvPr/>
        </p:nvSpPr>
        <p:spPr>
          <a:xfrm>
            <a:off x="7159752" y="1691640"/>
            <a:ext cx="1572768" cy="2606040"/>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7159752" y="1691640"/>
            <a:ext cx="1572768" cy="82296"/>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16"/>
          <p:cNvPicPr preferRelativeResize="0"/>
          <p:nvPr/>
        </p:nvPicPr>
        <p:blipFill rotWithShape="1">
          <a:blip r:embed="rId7">
            <a:alphaModFix/>
          </a:blip>
          <a:srcRect b="0" l="0" r="0" t="0"/>
          <a:stretch/>
        </p:blipFill>
        <p:spPr>
          <a:xfrm>
            <a:off x="7717536" y="1874520"/>
            <a:ext cx="457200" cy="457200"/>
          </a:xfrm>
          <a:prstGeom prst="rect">
            <a:avLst/>
          </a:prstGeom>
          <a:noFill/>
          <a:ln>
            <a:noFill/>
          </a:ln>
        </p:spPr>
      </p:pic>
      <p:sp>
        <p:nvSpPr>
          <p:cNvPr id="114" name="Google Shape;114;p16"/>
          <p:cNvSpPr/>
          <p:nvPr/>
        </p:nvSpPr>
        <p:spPr>
          <a:xfrm>
            <a:off x="7214616" y="2404872"/>
            <a:ext cx="146304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500" u="none" cap="none" strike="noStrike">
                <a:solidFill>
                  <a:srgbClr val="0B5D3B"/>
                </a:solidFill>
                <a:latin typeface="Calibri"/>
                <a:ea typeface="Calibri"/>
                <a:cs typeface="Calibri"/>
                <a:sym typeface="Calibri"/>
              </a:rPr>
              <a:t>No Central Monitoring</a:t>
            </a:r>
            <a:endParaRPr b="0" i="0" sz="1500" u="none" cap="none" strike="noStrike">
              <a:solidFill>
                <a:schemeClr val="dk1"/>
              </a:solidFill>
              <a:latin typeface="Calibri"/>
              <a:ea typeface="Calibri"/>
              <a:cs typeface="Calibri"/>
              <a:sym typeface="Calibri"/>
            </a:endParaRPr>
          </a:p>
        </p:txBody>
      </p:sp>
      <p:sp>
        <p:nvSpPr>
          <p:cNvPr id="115" name="Google Shape;115;p16"/>
          <p:cNvSpPr/>
          <p:nvPr/>
        </p:nvSpPr>
        <p:spPr>
          <a:xfrm>
            <a:off x="7214625" y="3037451"/>
            <a:ext cx="1463100" cy="1141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650" u="none" cap="none" strike="noStrike">
                <a:solidFill>
                  <a:srgbClr val="444444"/>
                </a:solidFill>
                <a:latin typeface="Calibri"/>
                <a:ea typeface="Calibri"/>
                <a:cs typeface="Calibri"/>
                <a:sym typeface="Calibri"/>
              </a:rPr>
              <a:t>No single view of all outstanding submissions</a:t>
            </a:r>
            <a:endParaRPr b="0" i="0" sz="1650" u="none" cap="none" strike="noStrike">
              <a:solidFill>
                <a:schemeClr val="dk1"/>
              </a:solidFill>
              <a:latin typeface="Calibri"/>
              <a:ea typeface="Calibri"/>
              <a:cs typeface="Calibri"/>
              <a:sym typeface="Calibri"/>
            </a:endParaRPr>
          </a:p>
        </p:txBody>
      </p:sp>
      <p:sp>
        <p:nvSpPr>
          <p:cNvPr id="116" name="Google Shape;116;p16"/>
          <p:cNvSpPr/>
          <p:nvPr/>
        </p:nvSpPr>
        <p:spPr>
          <a:xfrm>
            <a:off x="457200" y="4434840"/>
            <a:ext cx="2560320" cy="502920"/>
          </a:xfrm>
          <a:prstGeom prst="rect">
            <a:avLst/>
          </a:prstGeom>
          <a:solidFill>
            <a:srgbClr val="E8F5EE"/>
          </a:solidFill>
          <a:ln cap="flat" cmpd="sng" w="12700">
            <a:solidFill>
              <a:srgbClr val="C8E6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457200" y="4434840"/>
            <a:ext cx="25603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600" u="none" cap="none" strike="noStrike">
                <a:solidFill>
                  <a:srgbClr val="0B5D3B"/>
                </a:solidFill>
                <a:latin typeface="Calibri"/>
                <a:ea typeface="Calibri"/>
                <a:cs typeface="Calibri"/>
                <a:sym typeface="Calibri"/>
              </a:rPr>
              <a:t>Up to 40% of audit time</a:t>
            </a:r>
            <a:endParaRPr b="0" i="0" sz="1600" u="none" cap="none" strike="noStrike">
              <a:solidFill>
                <a:schemeClr val="dk1"/>
              </a:solidFill>
              <a:latin typeface="Calibri"/>
              <a:ea typeface="Calibri"/>
              <a:cs typeface="Calibri"/>
              <a:sym typeface="Calibri"/>
            </a:endParaRPr>
          </a:p>
        </p:txBody>
      </p:sp>
      <p:sp>
        <p:nvSpPr>
          <p:cNvPr id="118" name="Google Shape;118;p16"/>
          <p:cNvSpPr/>
          <p:nvPr/>
        </p:nvSpPr>
        <p:spPr>
          <a:xfrm>
            <a:off x="457200" y="4681728"/>
            <a:ext cx="25603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450" u="none" cap="none" strike="noStrike">
                <a:solidFill>
                  <a:srgbClr val="444444"/>
                </a:solidFill>
                <a:latin typeface="Calibri"/>
                <a:ea typeface="Calibri"/>
                <a:cs typeface="Calibri"/>
                <a:sym typeface="Calibri"/>
              </a:rPr>
              <a:t>spent on document chasing</a:t>
            </a:r>
            <a:endParaRPr b="0" i="0" sz="1450" u="none" cap="none" strike="noStrike">
              <a:solidFill>
                <a:schemeClr val="dk1"/>
              </a:solidFill>
              <a:latin typeface="Calibri"/>
              <a:ea typeface="Calibri"/>
              <a:cs typeface="Calibri"/>
              <a:sym typeface="Calibri"/>
            </a:endParaRPr>
          </a:p>
        </p:txBody>
      </p:sp>
      <p:sp>
        <p:nvSpPr>
          <p:cNvPr id="119" name="Google Shape;119;p16"/>
          <p:cNvSpPr/>
          <p:nvPr/>
        </p:nvSpPr>
        <p:spPr>
          <a:xfrm>
            <a:off x="3291840" y="4434840"/>
            <a:ext cx="2560320" cy="502920"/>
          </a:xfrm>
          <a:prstGeom prst="rect">
            <a:avLst/>
          </a:prstGeom>
          <a:solidFill>
            <a:srgbClr val="E8F5EE"/>
          </a:solidFill>
          <a:ln cap="flat" cmpd="sng" w="12700">
            <a:solidFill>
              <a:srgbClr val="C8E6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3291840" y="4434840"/>
            <a:ext cx="25603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600" u="none" cap="none" strike="noStrike">
                <a:solidFill>
                  <a:srgbClr val="0B5D3B"/>
                </a:solidFill>
                <a:latin typeface="Calibri"/>
                <a:ea typeface="Calibri"/>
                <a:cs typeface="Calibri"/>
                <a:sym typeface="Calibri"/>
              </a:rPr>
              <a:t>Risk of regulatory issues</a:t>
            </a:r>
            <a:endParaRPr b="0" i="0" sz="1600" u="none" cap="none" strike="noStrike">
              <a:solidFill>
                <a:schemeClr val="dk1"/>
              </a:solidFill>
              <a:latin typeface="Calibri"/>
              <a:ea typeface="Calibri"/>
              <a:cs typeface="Calibri"/>
              <a:sym typeface="Calibri"/>
            </a:endParaRPr>
          </a:p>
        </p:txBody>
      </p:sp>
      <p:sp>
        <p:nvSpPr>
          <p:cNvPr id="121" name="Google Shape;121;p16"/>
          <p:cNvSpPr/>
          <p:nvPr/>
        </p:nvSpPr>
        <p:spPr>
          <a:xfrm>
            <a:off x="3291840" y="4681728"/>
            <a:ext cx="2560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450" u="none" cap="none" strike="noStrike">
                <a:solidFill>
                  <a:srgbClr val="444444"/>
                </a:solidFill>
                <a:latin typeface="Calibri"/>
                <a:ea typeface="Calibri"/>
                <a:cs typeface="Calibri"/>
                <a:sym typeface="Calibri"/>
              </a:rPr>
              <a:t>from inconsistent follow-up</a:t>
            </a:r>
            <a:endParaRPr b="0" i="0" sz="1450" u="none" cap="none" strike="noStrike">
              <a:solidFill>
                <a:schemeClr val="dk1"/>
              </a:solidFill>
              <a:latin typeface="Calibri"/>
              <a:ea typeface="Calibri"/>
              <a:cs typeface="Calibri"/>
              <a:sym typeface="Calibri"/>
            </a:endParaRPr>
          </a:p>
        </p:txBody>
      </p:sp>
      <p:sp>
        <p:nvSpPr>
          <p:cNvPr id="122" name="Google Shape;122;p16"/>
          <p:cNvSpPr/>
          <p:nvPr/>
        </p:nvSpPr>
        <p:spPr>
          <a:xfrm>
            <a:off x="6126480" y="4434840"/>
            <a:ext cx="2560320" cy="502920"/>
          </a:xfrm>
          <a:prstGeom prst="rect">
            <a:avLst/>
          </a:prstGeom>
          <a:solidFill>
            <a:srgbClr val="E8F5EE"/>
          </a:solidFill>
          <a:ln cap="flat" cmpd="sng" w="12700">
            <a:solidFill>
              <a:srgbClr val="C8E6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6126480" y="4434840"/>
            <a:ext cx="25603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1100"/>
              <a:buFont typeface="Calibri"/>
              <a:buNone/>
            </a:pPr>
            <a:r>
              <a:rPr b="1" i="0" lang="en" sz="1600" u="none" cap="none" strike="noStrike">
                <a:solidFill>
                  <a:srgbClr val="0B5D3B"/>
                </a:solidFill>
                <a:latin typeface="Calibri"/>
                <a:ea typeface="Calibri"/>
                <a:cs typeface="Calibri"/>
                <a:sym typeface="Calibri"/>
              </a:rPr>
              <a:t>Manual processes = errors</a:t>
            </a:r>
            <a:endParaRPr b="0" i="0" sz="1600" u="none" cap="none" strike="noStrike">
              <a:solidFill>
                <a:schemeClr val="dk1"/>
              </a:solidFill>
              <a:latin typeface="Calibri"/>
              <a:ea typeface="Calibri"/>
              <a:cs typeface="Calibri"/>
              <a:sym typeface="Calibri"/>
            </a:endParaRPr>
          </a:p>
        </p:txBody>
      </p:sp>
      <p:sp>
        <p:nvSpPr>
          <p:cNvPr id="124" name="Google Shape;124;p16"/>
          <p:cNvSpPr/>
          <p:nvPr/>
        </p:nvSpPr>
        <p:spPr>
          <a:xfrm>
            <a:off x="6126480" y="4681728"/>
            <a:ext cx="25603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950"/>
              <a:buFont typeface="Calibri"/>
              <a:buNone/>
            </a:pPr>
            <a:r>
              <a:rPr b="0" i="0" lang="en" sz="1450" u="none" cap="none" strike="noStrike">
                <a:solidFill>
                  <a:srgbClr val="444444"/>
                </a:solidFill>
                <a:latin typeface="Calibri"/>
                <a:ea typeface="Calibri"/>
                <a:cs typeface="Calibri"/>
                <a:sym typeface="Calibri"/>
              </a:rPr>
              <a:t>and delayed audit completion</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129" name="Shape 129"/>
        <p:cNvGrpSpPr/>
        <p:nvPr/>
      </p:nvGrpSpPr>
      <p:grpSpPr>
        <a:xfrm>
          <a:off x="0" y="0"/>
          <a:ext cx="0" cy="0"/>
          <a:chOff x="0" y="0"/>
          <a:chExt cx="0" cy="0"/>
        </a:xfrm>
      </p:grpSpPr>
      <p:sp>
        <p:nvSpPr>
          <p:cNvPr id="130" name="Google Shape;130;p17"/>
          <p:cNvSpPr/>
          <p:nvPr/>
        </p:nvSpPr>
        <p:spPr>
          <a:xfrm>
            <a:off x="0" y="0"/>
            <a:ext cx="3474720" cy="5143500"/>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457200" y="1828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900"/>
              <a:buFont typeface="Calibri"/>
              <a:buNone/>
            </a:pPr>
            <a:r>
              <a:rPr b="1" i="0" lang="en" sz="2500" u="none" cap="none" strike="noStrike">
                <a:solidFill>
                  <a:srgbClr val="F4A300"/>
                </a:solidFill>
                <a:latin typeface="Calibri"/>
                <a:ea typeface="Calibri"/>
                <a:cs typeface="Calibri"/>
                <a:sym typeface="Calibri"/>
              </a:rPr>
              <a:t>INSPIRATION</a:t>
            </a:r>
            <a:endParaRPr b="0" i="0" sz="2500" u="none" cap="none" strike="noStrike">
              <a:solidFill>
                <a:schemeClr val="dk1"/>
              </a:solidFill>
              <a:latin typeface="Calibri"/>
              <a:ea typeface="Calibri"/>
              <a:cs typeface="Calibri"/>
              <a:sym typeface="Calibri"/>
            </a:endParaRPr>
          </a:p>
        </p:txBody>
      </p:sp>
      <p:sp>
        <p:nvSpPr>
          <p:cNvPr id="132" name="Google Shape;132;p17"/>
          <p:cNvSpPr/>
          <p:nvPr/>
        </p:nvSpPr>
        <p:spPr>
          <a:xfrm>
            <a:off x="228600" y="457200"/>
            <a:ext cx="3474600" cy="128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 sz="2800" u="none" cap="none" strike="noStrike">
                <a:solidFill>
                  <a:srgbClr val="FFFFFF"/>
                </a:solidFill>
                <a:latin typeface="Calibri"/>
                <a:ea typeface="Calibri"/>
                <a:cs typeface="Calibri"/>
                <a:sym typeface="Calibri"/>
              </a:rPr>
              <a:t>Project</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800"/>
              <a:buFont typeface="Calibri"/>
              <a:buNone/>
            </a:pPr>
            <a:r>
              <a:rPr b="1" i="0" lang="en" sz="2800" u="none" cap="none" strike="noStrike">
                <a:solidFill>
                  <a:srgbClr val="FFFFFF"/>
                </a:solidFill>
                <a:latin typeface="Calibri"/>
                <a:ea typeface="Calibri"/>
                <a:cs typeface="Calibri"/>
                <a:sym typeface="Calibri"/>
              </a:rPr>
              <a:t>Inspiration</a:t>
            </a:r>
            <a:endParaRPr b="0" i="0" sz="2800" u="none" cap="none" strike="noStrike">
              <a:solidFill>
                <a:schemeClr val="dk1"/>
              </a:solidFill>
              <a:latin typeface="Calibri"/>
              <a:ea typeface="Calibri"/>
              <a:cs typeface="Calibri"/>
              <a:sym typeface="Calibri"/>
            </a:endParaRPr>
          </a:p>
        </p:txBody>
      </p:sp>
      <p:sp>
        <p:nvSpPr>
          <p:cNvPr id="133" name="Google Shape;133;p17"/>
          <p:cNvSpPr/>
          <p:nvPr/>
        </p:nvSpPr>
        <p:spPr>
          <a:xfrm>
            <a:off x="274325" y="1737341"/>
            <a:ext cx="2926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1" i="0" lang="en" sz="2300" u="none" cap="none" strike="noStrike">
                <a:solidFill>
                  <a:srgbClr val="F4A300"/>
                </a:solidFill>
                <a:latin typeface="Calibri"/>
                <a:ea typeface="Calibri"/>
                <a:cs typeface="Calibri"/>
                <a:sym typeface="Calibri"/>
              </a:rPr>
              <a:t>BEFORE</a:t>
            </a:r>
            <a:endParaRPr b="0" i="0" sz="2300" u="none" cap="none" strike="noStrike">
              <a:solidFill>
                <a:schemeClr val="dk1"/>
              </a:solidFill>
              <a:latin typeface="Calibri"/>
              <a:ea typeface="Calibri"/>
              <a:cs typeface="Calibri"/>
              <a:sym typeface="Calibri"/>
            </a:endParaRPr>
          </a:p>
        </p:txBody>
      </p:sp>
      <p:sp>
        <p:nvSpPr>
          <p:cNvPr id="134" name="Google Shape;134;p17"/>
          <p:cNvSpPr/>
          <p:nvPr/>
        </p:nvSpPr>
        <p:spPr>
          <a:xfrm>
            <a:off x="320040" y="2240280"/>
            <a:ext cx="2834640" cy="1691640"/>
          </a:xfrm>
          <a:prstGeom prst="rect">
            <a:avLst/>
          </a:prstGeom>
          <a:solidFill>
            <a:srgbClr val="073D27"/>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411480" y="2304288"/>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900"/>
              <a:buFont typeface="Calibri"/>
              <a:buNone/>
            </a:pPr>
            <a:r>
              <a:rPr b="0" i="0" lang="en" sz="1500" u="none" cap="none" strike="noStrike">
                <a:solidFill>
                  <a:srgbClr val="A8D5B5"/>
                </a:solidFill>
                <a:latin typeface="Calibri"/>
                <a:ea typeface="Calibri"/>
                <a:cs typeface="Calibri"/>
                <a:sym typeface="Calibri"/>
              </a:rPr>
              <a:t>📋 Manual spreadsheet tracking</a:t>
            </a:r>
            <a:endParaRPr b="0" i="0" sz="1500" u="none" cap="none" strike="noStrike">
              <a:solidFill>
                <a:schemeClr val="dk1"/>
              </a:solidFill>
              <a:latin typeface="Calibri"/>
              <a:ea typeface="Calibri"/>
              <a:cs typeface="Calibri"/>
              <a:sym typeface="Calibri"/>
            </a:endParaRPr>
          </a:p>
        </p:txBody>
      </p:sp>
      <p:sp>
        <p:nvSpPr>
          <p:cNvPr id="136" name="Google Shape;136;p17"/>
          <p:cNvSpPr/>
          <p:nvPr/>
        </p:nvSpPr>
        <p:spPr>
          <a:xfrm>
            <a:off x="411480" y="2606040"/>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900"/>
              <a:buFont typeface="Calibri"/>
              <a:buNone/>
            </a:pPr>
            <a:r>
              <a:rPr b="0" i="0" lang="en" sz="900" u="none" cap="none" strike="noStrike">
                <a:solidFill>
                  <a:srgbClr val="A8D5B5"/>
                </a:solidFill>
                <a:latin typeface="Calibri"/>
                <a:ea typeface="Calibri"/>
                <a:cs typeface="Calibri"/>
                <a:sym typeface="Calibri"/>
              </a:rPr>
              <a:t>📞</a:t>
            </a:r>
            <a:r>
              <a:rPr b="0" i="0" lang="en" sz="1600" u="none" cap="none" strike="noStrike">
                <a:solidFill>
                  <a:srgbClr val="A8D5B5"/>
                </a:solidFill>
                <a:latin typeface="Calibri"/>
                <a:ea typeface="Calibri"/>
                <a:cs typeface="Calibri"/>
                <a:sym typeface="Calibri"/>
              </a:rPr>
              <a:t> Phone call reminders</a:t>
            </a:r>
            <a:endParaRPr b="0" i="0" sz="1600" u="none" cap="none" strike="noStrike">
              <a:solidFill>
                <a:schemeClr val="dk1"/>
              </a:solidFill>
              <a:latin typeface="Calibri"/>
              <a:ea typeface="Calibri"/>
              <a:cs typeface="Calibri"/>
              <a:sym typeface="Calibri"/>
            </a:endParaRPr>
          </a:p>
        </p:txBody>
      </p:sp>
      <p:sp>
        <p:nvSpPr>
          <p:cNvPr id="137" name="Google Shape;137;p17"/>
          <p:cNvSpPr/>
          <p:nvPr/>
        </p:nvSpPr>
        <p:spPr>
          <a:xfrm>
            <a:off x="411480" y="2907792"/>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900"/>
              <a:buFont typeface="Calibri"/>
              <a:buNone/>
            </a:pPr>
            <a:r>
              <a:rPr b="0" i="0" lang="en" sz="900" u="none" cap="none" strike="noStrike">
                <a:solidFill>
                  <a:srgbClr val="A8D5B5"/>
                </a:solidFill>
                <a:latin typeface="Calibri"/>
                <a:ea typeface="Calibri"/>
                <a:cs typeface="Calibri"/>
                <a:sym typeface="Calibri"/>
              </a:rPr>
              <a:t>📧</a:t>
            </a:r>
            <a:r>
              <a:rPr b="0" i="0" lang="en" sz="1500" u="none" cap="none" strike="noStrike">
                <a:solidFill>
                  <a:srgbClr val="A8D5B5"/>
                </a:solidFill>
                <a:latin typeface="Calibri"/>
                <a:ea typeface="Calibri"/>
                <a:cs typeface="Calibri"/>
                <a:sym typeface="Calibri"/>
              </a:rPr>
              <a:t> Individual emails per client</a:t>
            </a:r>
            <a:endParaRPr b="0" i="0" sz="1500" u="none" cap="none" strike="noStrike">
              <a:solidFill>
                <a:schemeClr val="dk1"/>
              </a:solidFill>
              <a:latin typeface="Calibri"/>
              <a:ea typeface="Calibri"/>
              <a:cs typeface="Calibri"/>
              <a:sym typeface="Calibri"/>
            </a:endParaRPr>
          </a:p>
        </p:txBody>
      </p:sp>
      <p:sp>
        <p:nvSpPr>
          <p:cNvPr id="138" name="Google Shape;138;p17"/>
          <p:cNvSpPr/>
          <p:nvPr/>
        </p:nvSpPr>
        <p:spPr>
          <a:xfrm>
            <a:off x="411480" y="3209544"/>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900"/>
              <a:buFont typeface="Calibri"/>
              <a:buNone/>
            </a:pPr>
            <a:r>
              <a:rPr b="0" i="0" lang="en" sz="900" u="none" cap="none" strike="noStrike">
                <a:solidFill>
                  <a:srgbClr val="A8D5B5"/>
                </a:solidFill>
                <a:latin typeface="Calibri"/>
                <a:ea typeface="Calibri"/>
                <a:cs typeface="Calibri"/>
                <a:sym typeface="Calibri"/>
              </a:rPr>
              <a:t>⏰</a:t>
            </a:r>
            <a:r>
              <a:rPr b="0" i="0" lang="en" sz="1500" u="none" cap="none" strike="noStrike">
                <a:solidFill>
                  <a:srgbClr val="A8D5B5"/>
                </a:solidFill>
                <a:latin typeface="Calibri"/>
                <a:ea typeface="Calibri"/>
                <a:cs typeface="Calibri"/>
                <a:sym typeface="Calibri"/>
              </a:rPr>
              <a:t> Missed follow-up deadlines</a:t>
            </a:r>
            <a:endParaRPr b="0" i="0" sz="1500" u="none" cap="none" strike="noStrike">
              <a:solidFill>
                <a:schemeClr val="dk1"/>
              </a:solidFill>
              <a:latin typeface="Calibri"/>
              <a:ea typeface="Calibri"/>
              <a:cs typeface="Calibri"/>
              <a:sym typeface="Calibri"/>
            </a:endParaRPr>
          </a:p>
        </p:txBody>
      </p:sp>
      <p:sp>
        <p:nvSpPr>
          <p:cNvPr id="139" name="Google Shape;139;p17"/>
          <p:cNvSpPr/>
          <p:nvPr/>
        </p:nvSpPr>
        <p:spPr>
          <a:xfrm>
            <a:off x="411480" y="3511296"/>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900"/>
              <a:buFont typeface="Calibri"/>
              <a:buNone/>
            </a:pPr>
            <a:r>
              <a:rPr b="0" i="0" lang="en" sz="1500" u="none" cap="none" strike="noStrike">
                <a:solidFill>
                  <a:srgbClr val="A8D5B5"/>
                </a:solidFill>
                <a:latin typeface="Calibri"/>
                <a:ea typeface="Calibri"/>
                <a:cs typeface="Calibri"/>
                <a:sym typeface="Calibri"/>
              </a:rPr>
              <a:t>❌ Inconsistent risk scoring</a:t>
            </a:r>
            <a:endParaRPr b="0" i="0" sz="1500" u="none" cap="none" strike="noStrike">
              <a:solidFill>
                <a:schemeClr val="dk1"/>
              </a:solidFill>
              <a:latin typeface="Calibri"/>
              <a:ea typeface="Calibri"/>
              <a:cs typeface="Calibri"/>
              <a:sym typeface="Calibri"/>
            </a:endParaRPr>
          </a:p>
        </p:txBody>
      </p:sp>
      <p:sp>
        <p:nvSpPr>
          <p:cNvPr id="140" name="Google Shape;140;p17"/>
          <p:cNvSpPr/>
          <p:nvPr/>
        </p:nvSpPr>
        <p:spPr>
          <a:xfrm>
            <a:off x="3749040" y="457200"/>
            <a:ext cx="51206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400"/>
              <a:buFont typeface="Calibri"/>
              <a:buNone/>
            </a:pPr>
            <a:r>
              <a:rPr b="0" i="1" lang="en" sz="1900" u="none" cap="none" strike="noStrike">
                <a:solidFill>
                  <a:srgbClr val="444444"/>
                </a:solidFill>
                <a:latin typeface="Calibri"/>
                <a:ea typeface="Calibri"/>
                <a:cs typeface="Calibri"/>
                <a:sym typeface="Calibri"/>
              </a:rPr>
              <a:t>Auditors often spend valuable time chasing clients for missing documents instead of focusing on analysis and assurance work.</a:t>
            </a:r>
            <a:endParaRPr b="0" i="0" sz="1900" u="none" cap="none" strike="noStrike">
              <a:solidFill>
                <a:schemeClr val="dk1"/>
              </a:solidFill>
              <a:latin typeface="Calibri"/>
              <a:ea typeface="Calibri"/>
              <a:cs typeface="Calibri"/>
              <a:sym typeface="Calibri"/>
            </a:endParaRPr>
          </a:p>
        </p:txBody>
      </p:sp>
      <p:sp>
        <p:nvSpPr>
          <p:cNvPr id="141" name="Google Shape;141;p17"/>
          <p:cNvSpPr/>
          <p:nvPr/>
        </p:nvSpPr>
        <p:spPr>
          <a:xfrm>
            <a:off x="3749040" y="1417320"/>
            <a:ext cx="5120640" cy="1005840"/>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7"/>
          <p:cNvSpPr/>
          <p:nvPr/>
        </p:nvSpPr>
        <p:spPr>
          <a:xfrm>
            <a:off x="3840480" y="1463040"/>
            <a:ext cx="493776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1" lang="en" sz="2200" u="none" cap="none" strike="noStrike">
                <a:solidFill>
                  <a:srgbClr val="FFFFFF"/>
                </a:solidFill>
                <a:latin typeface="Calibri"/>
                <a:ea typeface="Calibri"/>
                <a:cs typeface="Calibri"/>
                <a:sym typeface="Calibri"/>
              </a:rPr>
              <a:t>"What if the system could track, classify, and remind</a:t>
            </a:r>
            <a:r>
              <a:rPr b="1" i="1" lang="en" sz="2200">
                <a:solidFill>
                  <a:srgbClr val="FFFFFF"/>
                </a:solidFill>
                <a:latin typeface="Calibri"/>
                <a:ea typeface="Calibri"/>
                <a:cs typeface="Calibri"/>
                <a:sym typeface="Calibri"/>
              </a:rPr>
              <a:t>, automatically?"</a:t>
            </a:r>
            <a:endParaRPr b="0" i="0" sz="2200" u="none" cap="none" strike="noStrike">
              <a:solidFill>
                <a:schemeClr val="dk1"/>
              </a:solidFill>
              <a:latin typeface="Calibri"/>
              <a:ea typeface="Calibri"/>
              <a:cs typeface="Calibri"/>
              <a:sym typeface="Calibri"/>
            </a:endParaRPr>
          </a:p>
        </p:txBody>
      </p:sp>
      <p:sp>
        <p:nvSpPr>
          <p:cNvPr id="143" name="Google Shape;143;p17"/>
          <p:cNvSpPr/>
          <p:nvPr/>
        </p:nvSpPr>
        <p:spPr>
          <a:xfrm>
            <a:off x="3749040" y="2578608"/>
            <a:ext cx="51206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400"/>
              <a:buFont typeface="Calibri"/>
              <a:buNone/>
            </a:pPr>
            <a:r>
              <a:rPr b="1" i="0" lang="en" sz="2400" u="none" cap="none" strike="noStrike">
                <a:solidFill>
                  <a:srgbClr val="0B5D3B"/>
                </a:solidFill>
                <a:latin typeface="Calibri"/>
                <a:ea typeface="Calibri"/>
                <a:cs typeface="Calibri"/>
                <a:sym typeface="Calibri"/>
              </a:rPr>
              <a:t>Our Goal</a:t>
            </a:r>
            <a:endParaRPr b="0" i="0" sz="2400" u="none" cap="none" strike="noStrike">
              <a:solidFill>
                <a:schemeClr val="dk1"/>
              </a:solidFill>
              <a:latin typeface="Calibri"/>
              <a:ea typeface="Calibri"/>
              <a:cs typeface="Calibri"/>
              <a:sym typeface="Calibri"/>
            </a:endParaRPr>
          </a:p>
        </p:txBody>
      </p:sp>
      <p:sp>
        <p:nvSpPr>
          <p:cNvPr id="144" name="Google Shape;144;p17"/>
          <p:cNvSpPr/>
          <p:nvPr/>
        </p:nvSpPr>
        <p:spPr>
          <a:xfrm>
            <a:off x="3749050" y="2898725"/>
            <a:ext cx="5120700" cy="100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300"/>
              <a:buFont typeface="Calibri"/>
              <a:buNone/>
            </a:pPr>
            <a:r>
              <a:rPr b="0" i="0" lang="en" sz="1800" u="none" cap="none" strike="noStrike">
                <a:solidFill>
                  <a:srgbClr val="444444"/>
                </a:solidFill>
                <a:latin typeface="Calibri"/>
                <a:ea typeface="Calibri"/>
                <a:cs typeface="Calibri"/>
                <a:sym typeface="Calibri"/>
              </a:rPr>
              <a:t>Automate repetitive follow-ups while improving visibility and risk management using AI — freeing auditors to focus on higher-value analytical work.</a:t>
            </a:r>
            <a:endParaRPr b="0" i="0" sz="1800" u="none" cap="none" strike="noStrike">
              <a:solidFill>
                <a:schemeClr val="dk1"/>
              </a:solidFill>
              <a:latin typeface="Calibri"/>
              <a:ea typeface="Calibri"/>
              <a:cs typeface="Calibri"/>
              <a:sym typeface="Calibri"/>
            </a:endParaRPr>
          </a:p>
        </p:txBody>
      </p:sp>
      <p:sp>
        <p:nvSpPr>
          <p:cNvPr id="145" name="Google Shape;145;p17"/>
          <p:cNvSpPr/>
          <p:nvPr/>
        </p:nvSpPr>
        <p:spPr>
          <a:xfrm>
            <a:off x="3749040" y="3749040"/>
            <a:ext cx="5120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1000"/>
              <a:buFont typeface="Calibri"/>
              <a:buNone/>
            </a:pPr>
            <a:r>
              <a:rPr b="1" i="0" lang="en" sz="1600" u="none" cap="none" strike="noStrike">
                <a:solidFill>
                  <a:srgbClr val="F4A300"/>
                </a:solidFill>
                <a:latin typeface="Calibri"/>
                <a:ea typeface="Calibri"/>
                <a:cs typeface="Calibri"/>
                <a:sym typeface="Calibri"/>
              </a:rPr>
              <a:t>AFTER</a:t>
            </a:r>
            <a:endParaRPr b="0" i="0" sz="1600" u="none" cap="none" strike="noStrike">
              <a:solidFill>
                <a:schemeClr val="dk1"/>
              </a:solidFill>
              <a:latin typeface="Calibri"/>
              <a:ea typeface="Calibri"/>
              <a:cs typeface="Calibri"/>
              <a:sym typeface="Calibri"/>
            </a:endParaRPr>
          </a:p>
        </p:txBody>
      </p:sp>
      <p:sp>
        <p:nvSpPr>
          <p:cNvPr id="146" name="Google Shape;146;p17"/>
          <p:cNvSpPr/>
          <p:nvPr/>
        </p:nvSpPr>
        <p:spPr>
          <a:xfrm>
            <a:off x="3749040" y="4069080"/>
            <a:ext cx="1627632" cy="777240"/>
          </a:xfrm>
          <a:prstGeom prst="rect">
            <a:avLst/>
          </a:prstGeom>
          <a:solidFill>
            <a:srgbClr val="E8F5EE"/>
          </a:solidFill>
          <a:ln cap="flat" cmpd="sng" w="12700">
            <a:solidFill>
              <a:srgbClr val="C8E6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7" name="Google Shape;147;p17"/>
          <p:cNvPicPr preferRelativeResize="0"/>
          <p:nvPr/>
        </p:nvPicPr>
        <p:blipFill rotWithShape="1">
          <a:blip r:embed="rId3">
            <a:alphaModFix/>
          </a:blip>
          <a:srcRect b="0" l="0" r="0" t="0"/>
          <a:stretch/>
        </p:blipFill>
        <p:spPr>
          <a:xfrm>
            <a:off x="4334256" y="4114800"/>
            <a:ext cx="256032" cy="256032"/>
          </a:xfrm>
          <a:prstGeom prst="rect">
            <a:avLst/>
          </a:prstGeom>
          <a:noFill/>
          <a:ln>
            <a:noFill/>
          </a:ln>
        </p:spPr>
      </p:pic>
      <p:sp>
        <p:nvSpPr>
          <p:cNvPr id="148" name="Google Shape;148;p17"/>
          <p:cNvSpPr/>
          <p:nvPr/>
        </p:nvSpPr>
        <p:spPr>
          <a:xfrm>
            <a:off x="3794760" y="4389120"/>
            <a:ext cx="1536192"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900"/>
              <a:buFont typeface="Calibri"/>
              <a:buNone/>
            </a:pPr>
            <a:r>
              <a:rPr b="1" i="0" lang="en" u="none" cap="none" strike="noStrike">
                <a:solidFill>
                  <a:srgbClr val="0B5D3B"/>
                </a:solidFill>
                <a:latin typeface="Calibri"/>
                <a:ea typeface="Calibri"/>
                <a:cs typeface="Calibri"/>
                <a:sym typeface="Calibri"/>
              </a:rPr>
              <a:t>AI classifies risk automatically</a:t>
            </a:r>
            <a:endParaRPr b="0" i="0" u="none" cap="none" strike="noStrike">
              <a:solidFill>
                <a:schemeClr val="dk1"/>
              </a:solidFill>
              <a:latin typeface="Calibri"/>
              <a:ea typeface="Calibri"/>
              <a:cs typeface="Calibri"/>
              <a:sym typeface="Calibri"/>
            </a:endParaRPr>
          </a:p>
        </p:txBody>
      </p:sp>
      <p:sp>
        <p:nvSpPr>
          <p:cNvPr id="149" name="Google Shape;149;p17"/>
          <p:cNvSpPr/>
          <p:nvPr/>
        </p:nvSpPr>
        <p:spPr>
          <a:xfrm>
            <a:off x="5486400" y="4069080"/>
            <a:ext cx="1627632" cy="777240"/>
          </a:xfrm>
          <a:prstGeom prst="rect">
            <a:avLst/>
          </a:prstGeom>
          <a:solidFill>
            <a:srgbClr val="E8F5EE"/>
          </a:solidFill>
          <a:ln cap="flat" cmpd="sng" w="12700">
            <a:solidFill>
              <a:srgbClr val="C8E6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17"/>
          <p:cNvPicPr preferRelativeResize="0"/>
          <p:nvPr/>
        </p:nvPicPr>
        <p:blipFill rotWithShape="1">
          <a:blip r:embed="rId4">
            <a:alphaModFix/>
          </a:blip>
          <a:srcRect b="0" l="0" r="0" t="0"/>
          <a:stretch/>
        </p:blipFill>
        <p:spPr>
          <a:xfrm>
            <a:off x="6071616" y="4114800"/>
            <a:ext cx="256032" cy="256032"/>
          </a:xfrm>
          <a:prstGeom prst="rect">
            <a:avLst/>
          </a:prstGeom>
          <a:noFill/>
          <a:ln>
            <a:noFill/>
          </a:ln>
        </p:spPr>
      </p:pic>
      <p:sp>
        <p:nvSpPr>
          <p:cNvPr id="151" name="Google Shape;151;p17"/>
          <p:cNvSpPr/>
          <p:nvPr/>
        </p:nvSpPr>
        <p:spPr>
          <a:xfrm>
            <a:off x="5376675" y="4434850"/>
            <a:ext cx="1986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900"/>
              <a:buFont typeface="Calibri"/>
              <a:buNone/>
            </a:pPr>
            <a:r>
              <a:rPr b="1" i="0" lang="en" u="none" cap="none" strike="noStrike">
                <a:solidFill>
                  <a:srgbClr val="0B5D3B"/>
                </a:solidFill>
                <a:latin typeface="Calibri"/>
                <a:ea typeface="Calibri"/>
                <a:cs typeface="Calibri"/>
                <a:sym typeface="Calibri"/>
              </a:rPr>
              <a:t>Smart emails drafted &amp; approved</a:t>
            </a:r>
            <a:endParaRPr b="0" i="0" u="none" cap="none" strike="noStrike">
              <a:solidFill>
                <a:schemeClr val="dk1"/>
              </a:solidFill>
              <a:latin typeface="Calibri"/>
              <a:ea typeface="Calibri"/>
              <a:cs typeface="Calibri"/>
              <a:sym typeface="Calibri"/>
            </a:endParaRPr>
          </a:p>
        </p:txBody>
      </p:sp>
      <p:sp>
        <p:nvSpPr>
          <p:cNvPr id="152" name="Google Shape;152;p17"/>
          <p:cNvSpPr/>
          <p:nvPr/>
        </p:nvSpPr>
        <p:spPr>
          <a:xfrm>
            <a:off x="7223760" y="4069080"/>
            <a:ext cx="1627632" cy="777240"/>
          </a:xfrm>
          <a:prstGeom prst="rect">
            <a:avLst/>
          </a:prstGeom>
          <a:solidFill>
            <a:srgbClr val="E8F5EE"/>
          </a:solidFill>
          <a:ln cap="flat" cmpd="sng" w="12700">
            <a:solidFill>
              <a:srgbClr val="C8E6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17"/>
          <p:cNvPicPr preferRelativeResize="0"/>
          <p:nvPr/>
        </p:nvPicPr>
        <p:blipFill rotWithShape="1">
          <a:blip r:embed="rId5">
            <a:alphaModFix/>
          </a:blip>
          <a:srcRect b="0" l="0" r="0" t="0"/>
          <a:stretch/>
        </p:blipFill>
        <p:spPr>
          <a:xfrm>
            <a:off x="7808976" y="4114800"/>
            <a:ext cx="256032" cy="256032"/>
          </a:xfrm>
          <a:prstGeom prst="rect">
            <a:avLst/>
          </a:prstGeom>
          <a:noFill/>
          <a:ln>
            <a:noFill/>
          </a:ln>
        </p:spPr>
      </p:pic>
      <p:sp>
        <p:nvSpPr>
          <p:cNvPr id="154" name="Google Shape;154;p17"/>
          <p:cNvSpPr/>
          <p:nvPr/>
        </p:nvSpPr>
        <p:spPr>
          <a:xfrm>
            <a:off x="7269480" y="4389120"/>
            <a:ext cx="1536192"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900"/>
              <a:buFont typeface="Calibri"/>
              <a:buNone/>
            </a:pPr>
            <a:r>
              <a:rPr b="1" i="0" lang="en" u="none" cap="none" strike="noStrike">
                <a:solidFill>
                  <a:srgbClr val="0B5D3B"/>
                </a:solidFill>
                <a:latin typeface="Calibri"/>
                <a:ea typeface="Calibri"/>
                <a:cs typeface="Calibri"/>
                <a:sym typeface="Calibri"/>
              </a:rPr>
              <a:t>Human oversight before sending</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18"/>
          <p:cNvSpPr/>
          <p:nvPr/>
        </p:nvSpPr>
        <p:spPr>
          <a:xfrm>
            <a:off x="0" y="0"/>
            <a:ext cx="9144000" cy="1005840"/>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8"/>
          <p:cNvSpPr/>
          <p:nvPr/>
        </p:nvSpPr>
        <p:spPr>
          <a:xfrm>
            <a:off x="388625" y="182880"/>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900"/>
              <a:buFont typeface="Calibri"/>
              <a:buNone/>
            </a:pPr>
            <a:r>
              <a:rPr b="1" i="0" lang="en" sz="2000" u="none" cap="none" strike="noStrike">
                <a:solidFill>
                  <a:srgbClr val="F4A300"/>
                </a:solidFill>
                <a:latin typeface="Calibri"/>
                <a:ea typeface="Calibri"/>
                <a:cs typeface="Calibri"/>
                <a:sym typeface="Calibri"/>
              </a:rPr>
              <a:t>PROPOSED SOLUTION</a:t>
            </a:r>
            <a:endParaRPr b="0" i="0" sz="2000" u="none" cap="none" strike="noStrike">
              <a:solidFill>
                <a:schemeClr val="dk1"/>
              </a:solidFill>
              <a:latin typeface="Calibri"/>
              <a:ea typeface="Calibri"/>
              <a:cs typeface="Calibri"/>
              <a:sym typeface="Calibri"/>
            </a:endParaRPr>
          </a:p>
        </p:txBody>
      </p:sp>
      <p:sp>
        <p:nvSpPr>
          <p:cNvPr id="162" name="Google Shape;162;p18"/>
          <p:cNvSpPr/>
          <p:nvPr/>
        </p:nvSpPr>
        <p:spPr>
          <a:xfrm>
            <a:off x="388625" y="338407"/>
            <a:ext cx="82296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 sz="3400" u="none" cap="none" strike="noStrike">
                <a:solidFill>
                  <a:srgbClr val="FFFFFF"/>
                </a:solidFill>
                <a:latin typeface="Calibri"/>
                <a:ea typeface="Calibri"/>
                <a:cs typeface="Calibri"/>
                <a:sym typeface="Calibri"/>
              </a:rPr>
              <a:t>Our Solution</a:t>
            </a:r>
            <a:endParaRPr b="0" i="0" sz="3400" u="none" cap="none" strike="noStrike">
              <a:solidFill>
                <a:schemeClr val="dk1"/>
              </a:solidFill>
              <a:latin typeface="Calibri"/>
              <a:ea typeface="Calibri"/>
              <a:cs typeface="Calibri"/>
              <a:sym typeface="Calibri"/>
            </a:endParaRPr>
          </a:p>
        </p:txBody>
      </p:sp>
      <p:sp>
        <p:nvSpPr>
          <p:cNvPr id="163" name="Google Shape;163;p18"/>
          <p:cNvSpPr/>
          <p:nvPr/>
        </p:nvSpPr>
        <p:spPr>
          <a:xfrm>
            <a:off x="457200" y="1078992"/>
            <a:ext cx="8229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300"/>
              <a:buFont typeface="Calibri"/>
              <a:buNone/>
            </a:pPr>
            <a:r>
              <a:rPr b="0" i="0" lang="en" sz="1700" u="none" cap="none" strike="noStrike">
                <a:solidFill>
                  <a:srgbClr val="444444"/>
                </a:solidFill>
                <a:latin typeface="Calibri"/>
                <a:ea typeface="Calibri"/>
                <a:cs typeface="Calibri"/>
                <a:sym typeface="Calibri"/>
              </a:rPr>
              <a:t>An AI-powered n8n workflow that automates the full audit document tracking lifecycle:</a:t>
            </a:r>
            <a:endParaRPr b="0" i="0" sz="1700" u="none" cap="none" strike="noStrike">
              <a:solidFill>
                <a:schemeClr val="dk1"/>
              </a:solidFill>
              <a:latin typeface="Calibri"/>
              <a:ea typeface="Calibri"/>
              <a:cs typeface="Calibri"/>
              <a:sym typeface="Calibri"/>
            </a:endParaRPr>
          </a:p>
        </p:txBody>
      </p:sp>
      <p:sp>
        <p:nvSpPr>
          <p:cNvPr id="164" name="Google Shape;164;p18"/>
          <p:cNvSpPr/>
          <p:nvPr/>
        </p:nvSpPr>
        <p:spPr>
          <a:xfrm>
            <a:off x="365760" y="1572768"/>
            <a:ext cx="2606040" cy="1435608"/>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a:off x="365760" y="1572768"/>
            <a:ext cx="73152" cy="1435608"/>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18"/>
          <p:cNvPicPr preferRelativeResize="0"/>
          <p:nvPr/>
        </p:nvPicPr>
        <p:blipFill rotWithShape="1">
          <a:blip r:embed="rId3">
            <a:alphaModFix/>
          </a:blip>
          <a:srcRect b="0" l="0" r="0" t="0"/>
          <a:stretch/>
        </p:blipFill>
        <p:spPr>
          <a:xfrm>
            <a:off x="530352" y="1865376"/>
            <a:ext cx="384048" cy="384048"/>
          </a:xfrm>
          <a:prstGeom prst="rect">
            <a:avLst/>
          </a:prstGeom>
          <a:noFill/>
          <a:ln>
            <a:noFill/>
          </a:ln>
        </p:spPr>
      </p:pic>
      <p:sp>
        <p:nvSpPr>
          <p:cNvPr id="167" name="Google Shape;167;p18"/>
          <p:cNvSpPr/>
          <p:nvPr/>
        </p:nvSpPr>
        <p:spPr>
          <a:xfrm>
            <a:off x="1005840" y="1755648"/>
            <a:ext cx="190195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150"/>
              <a:buFont typeface="Calibri"/>
              <a:buNone/>
            </a:pPr>
            <a:r>
              <a:rPr b="1" i="0" lang="en" sz="1350" u="none" cap="none" strike="noStrike">
                <a:solidFill>
                  <a:srgbClr val="0B5D3B"/>
                </a:solidFill>
                <a:latin typeface="Calibri"/>
                <a:ea typeface="Calibri"/>
                <a:cs typeface="Calibri"/>
                <a:sym typeface="Calibri"/>
              </a:rPr>
              <a:t>Document Monitoring</a:t>
            </a:r>
            <a:endParaRPr b="0" i="0" sz="1350" u="none" cap="none" strike="noStrike">
              <a:solidFill>
                <a:schemeClr val="dk1"/>
              </a:solidFill>
              <a:latin typeface="Calibri"/>
              <a:ea typeface="Calibri"/>
              <a:cs typeface="Calibri"/>
              <a:sym typeface="Calibri"/>
            </a:endParaRPr>
          </a:p>
        </p:txBody>
      </p:sp>
      <p:sp>
        <p:nvSpPr>
          <p:cNvPr id="168" name="Google Shape;168;p18"/>
          <p:cNvSpPr/>
          <p:nvPr/>
        </p:nvSpPr>
        <p:spPr>
          <a:xfrm>
            <a:off x="1005840" y="2093976"/>
            <a:ext cx="190195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 sz="1250" u="none" cap="none" strike="noStrike">
                <a:solidFill>
                  <a:srgbClr val="444444"/>
                </a:solidFill>
                <a:latin typeface="Calibri"/>
                <a:ea typeface="Calibri"/>
                <a:cs typeface="Calibri"/>
                <a:sym typeface="Calibri"/>
              </a:rPr>
              <a:t>Reads Google Sheets daily, filters pending submissions automatically</a:t>
            </a:r>
            <a:endParaRPr b="0" i="0" sz="1250" u="none" cap="none" strike="noStrike">
              <a:solidFill>
                <a:schemeClr val="dk1"/>
              </a:solidFill>
              <a:latin typeface="Calibri"/>
              <a:ea typeface="Calibri"/>
              <a:cs typeface="Calibri"/>
              <a:sym typeface="Calibri"/>
            </a:endParaRPr>
          </a:p>
        </p:txBody>
      </p:sp>
      <p:sp>
        <p:nvSpPr>
          <p:cNvPr id="169" name="Google Shape;169;p18"/>
          <p:cNvSpPr/>
          <p:nvPr/>
        </p:nvSpPr>
        <p:spPr>
          <a:xfrm>
            <a:off x="3200400" y="1572768"/>
            <a:ext cx="2606040" cy="1435608"/>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a:off x="3200400" y="1572768"/>
            <a:ext cx="73152" cy="1435608"/>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 name="Google Shape;171;p18"/>
          <p:cNvPicPr preferRelativeResize="0"/>
          <p:nvPr/>
        </p:nvPicPr>
        <p:blipFill rotWithShape="1">
          <a:blip r:embed="rId4">
            <a:alphaModFix/>
          </a:blip>
          <a:srcRect b="0" l="0" r="0" t="0"/>
          <a:stretch/>
        </p:blipFill>
        <p:spPr>
          <a:xfrm>
            <a:off x="3364992" y="1865376"/>
            <a:ext cx="384048" cy="384048"/>
          </a:xfrm>
          <a:prstGeom prst="rect">
            <a:avLst/>
          </a:prstGeom>
          <a:noFill/>
          <a:ln>
            <a:noFill/>
          </a:ln>
        </p:spPr>
      </p:pic>
      <p:sp>
        <p:nvSpPr>
          <p:cNvPr id="172" name="Google Shape;172;p18"/>
          <p:cNvSpPr/>
          <p:nvPr/>
        </p:nvSpPr>
        <p:spPr>
          <a:xfrm>
            <a:off x="3840480" y="1755648"/>
            <a:ext cx="190195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150"/>
              <a:buFont typeface="Calibri"/>
              <a:buNone/>
            </a:pPr>
            <a:r>
              <a:rPr b="1" i="0" lang="en" sz="1450" u="none" cap="none" strike="noStrike">
                <a:solidFill>
                  <a:srgbClr val="0B5D3B"/>
                </a:solidFill>
                <a:latin typeface="Calibri"/>
                <a:ea typeface="Calibri"/>
                <a:cs typeface="Calibri"/>
                <a:sym typeface="Calibri"/>
              </a:rPr>
              <a:t>Risk Classification</a:t>
            </a:r>
            <a:endParaRPr b="0" i="0" sz="1450" u="none" cap="none" strike="noStrike">
              <a:solidFill>
                <a:schemeClr val="dk1"/>
              </a:solidFill>
              <a:latin typeface="Calibri"/>
              <a:ea typeface="Calibri"/>
              <a:cs typeface="Calibri"/>
              <a:sym typeface="Calibri"/>
            </a:endParaRPr>
          </a:p>
        </p:txBody>
      </p:sp>
      <p:sp>
        <p:nvSpPr>
          <p:cNvPr id="173" name="Google Shape;173;p18"/>
          <p:cNvSpPr/>
          <p:nvPr/>
        </p:nvSpPr>
        <p:spPr>
          <a:xfrm>
            <a:off x="3703330" y="2157989"/>
            <a:ext cx="19020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 sz="1250" u="none" cap="none" strike="noStrike">
                <a:solidFill>
                  <a:srgbClr val="444444"/>
                </a:solidFill>
                <a:latin typeface="Calibri"/>
                <a:ea typeface="Calibri"/>
                <a:cs typeface="Calibri"/>
                <a:sym typeface="Calibri"/>
              </a:rPr>
              <a:t>AI classifies Low / Medium / High risk based on days overdue</a:t>
            </a:r>
            <a:endParaRPr b="0" i="0" sz="1250" u="none" cap="none" strike="noStrike">
              <a:solidFill>
                <a:schemeClr val="dk1"/>
              </a:solidFill>
              <a:latin typeface="Calibri"/>
              <a:ea typeface="Calibri"/>
              <a:cs typeface="Calibri"/>
              <a:sym typeface="Calibri"/>
            </a:endParaRPr>
          </a:p>
        </p:txBody>
      </p:sp>
      <p:sp>
        <p:nvSpPr>
          <p:cNvPr id="174" name="Google Shape;174;p18"/>
          <p:cNvSpPr/>
          <p:nvPr/>
        </p:nvSpPr>
        <p:spPr>
          <a:xfrm>
            <a:off x="6035040" y="1572768"/>
            <a:ext cx="2606040" cy="1435608"/>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8"/>
          <p:cNvSpPr/>
          <p:nvPr/>
        </p:nvSpPr>
        <p:spPr>
          <a:xfrm>
            <a:off x="6035040" y="1572768"/>
            <a:ext cx="73152" cy="1435608"/>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 name="Google Shape;176;p18"/>
          <p:cNvPicPr preferRelativeResize="0"/>
          <p:nvPr/>
        </p:nvPicPr>
        <p:blipFill rotWithShape="1">
          <a:blip r:embed="rId5">
            <a:alphaModFix/>
          </a:blip>
          <a:srcRect b="0" l="0" r="0" t="0"/>
          <a:stretch/>
        </p:blipFill>
        <p:spPr>
          <a:xfrm>
            <a:off x="6199632" y="1865376"/>
            <a:ext cx="384048" cy="384048"/>
          </a:xfrm>
          <a:prstGeom prst="rect">
            <a:avLst/>
          </a:prstGeom>
          <a:noFill/>
          <a:ln>
            <a:noFill/>
          </a:ln>
        </p:spPr>
      </p:pic>
      <p:sp>
        <p:nvSpPr>
          <p:cNvPr id="177" name="Google Shape;177;p18"/>
          <p:cNvSpPr/>
          <p:nvPr/>
        </p:nvSpPr>
        <p:spPr>
          <a:xfrm>
            <a:off x="6675120" y="1755648"/>
            <a:ext cx="190195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150"/>
              <a:buFont typeface="Calibri"/>
              <a:buNone/>
            </a:pPr>
            <a:r>
              <a:rPr b="1" i="0" lang="en" sz="1550" u="none" cap="none" strike="noStrike">
                <a:solidFill>
                  <a:srgbClr val="0B5D3B"/>
                </a:solidFill>
                <a:latin typeface="Calibri"/>
                <a:ea typeface="Calibri"/>
                <a:cs typeface="Calibri"/>
                <a:sym typeface="Calibri"/>
              </a:rPr>
              <a:t>Smart Email Drafting</a:t>
            </a:r>
            <a:endParaRPr b="0" i="0" sz="1550" u="none" cap="none" strike="noStrike">
              <a:solidFill>
                <a:schemeClr val="dk1"/>
              </a:solidFill>
              <a:latin typeface="Calibri"/>
              <a:ea typeface="Calibri"/>
              <a:cs typeface="Calibri"/>
              <a:sym typeface="Calibri"/>
            </a:endParaRPr>
          </a:p>
        </p:txBody>
      </p:sp>
      <p:sp>
        <p:nvSpPr>
          <p:cNvPr id="178" name="Google Shape;178;p18"/>
          <p:cNvSpPr/>
          <p:nvPr/>
        </p:nvSpPr>
        <p:spPr>
          <a:xfrm>
            <a:off x="6675120" y="2093976"/>
            <a:ext cx="19020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lang="en" sz="1250">
                <a:solidFill>
                  <a:srgbClr val="444444"/>
                </a:solidFill>
                <a:latin typeface="Calibri"/>
                <a:ea typeface="Calibri"/>
                <a:cs typeface="Calibri"/>
                <a:sym typeface="Calibri"/>
              </a:rPr>
              <a:t>The second </a:t>
            </a:r>
            <a:r>
              <a:rPr b="0" i="0" lang="en" sz="1250" u="none" cap="none" strike="noStrike">
                <a:solidFill>
                  <a:srgbClr val="444444"/>
                </a:solidFill>
                <a:latin typeface="Calibri"/>
                <a:ea typeface="Calibri"/>
                <a:cs typeface="Calibri"/>
                <a:sym typeface="Calibri"/>
              </a:rPr>
              <a:t>AI agent writes tone-adjusted emails per client</a:t>
            </a:r>
            <a:endParaRPr b="0" i="0" sz="1250" u="none" cap="none" strike="noStrike">
              <a:solidFill>
                <a:schemeClr val="dk1"/>
              </a:solidFill>
              <a:latin typeface="Calibri"/>
              <a:ea typeface="Calibri"/>
              <a:cs typeface="Calibri"/>
              <a:sym typeface="Calibri"/>
            </a:endParaRPr>
          </a:p>
        </p:txBody>
      </p:sp>
      <p:sp>
        <p:nvSpPr>
          <p:cNvPr id="179" name="Google Shape;179;p18"/>
          <p:cNvSpPr/>
          <p:nvPr/>
        </p:nvSpPr>
        <p:spPr>
          <a:xfrm>
            <a:off x="365760" y="3145536"/>
            <a:ext cx="2606040" cy="1435608"/>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p:nvPr/>
        </p:nvSpPr>
        <p:spPr>
          <a:xfrm>
            <a:off x="365760" y="3145536"/>
            <a:ext cx="73152" cy="1435608"/>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8"/>
          <p:cNvPicPr preferRelativeResize="0"/>
          <p:nvPr/>
        </p:nvPicPr>
        <p:blipFill rotWithShape="1">
          <a:blip r:embed="rId6">
            <a:alphaModFix/>
          </a:blip>
          <a:srcRect b="0" l="0" r="0" t="0"/>
          <a:stretch/>
        </p:blipFill>
        <p:spPr>
          <a:xfrm>
            <a:off x="530352" y="3438144"/>
            <a:ext cx="384048" cy="384048"/>
          </a:xfrm>
          <a:prstGeom prst="rect">
            <a:avLst/>
          </a:prstGeom>
          <a:noFill/>
          <a:ln>
            <a:noFill/>
          </a:ln>
        </p:spPr>
      </p:pic>
      <p:sp>
        <p:nvSpPr>
          <p:cNvPr id="182" name="Google Shape;182;p18"/>
          <p:cNvSpPr/>
          <p:nvPr/>
        </p:nvSpPr>
        <p:spPr>
          <a:xfrm>
            <a:off x="1005840" y="3328416"/>
            <a:ext cx="190195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150"/>
              <a:buFont typeface="Calibri"/>
              <a:buNone/>
            </a:pPr>
            <a:r>
              <a:rPr b="1" i="0" lang="en" sz="1650" u="none" cap="none" strike="noStrike">
                <a:solidFill>
                  <a:srgbClr val="0B5D3B"/>
                </a:solidFill>
                <a:latin typeface="Calibri"/>
                <a:ea typeface="Calibri"/>
                <a:cs typeface="Calibri"/>
                <a:sym typeface="Calibri"/>
              </a:rPr>
              <a:t>Approval Gate</a:t>
            </a:r>
            <a:endParaRPr b="0" i="0" sz="1650" u="none" cap="none" strike="noStrike">
              <a:solidFill>
                <a:schemeClr val="dk1"/>
              </a:solidFill>
              <a:latin typeface="Calibri"/>
              <a:ea typeface="Calibri"/>
              <a:cs typeface="Calibri"/>
              <a:sym typeface="Calibri"/>
            </a:endParaRPr>
          </a:p>
        </p:txBody>
      </p:sp>
      <p:sp>
        <p:nvSpPr>
          <p:cNvPr id="183" name="Google Shape;183;p18"/>
          <p:cNvSpPr/>
          <p:nvPr/>
        </p:nvSpPr>
        <p:spPr>
          <a:xfrm>
            <a:off x="1005840" y="3666744"/>
            <a:ext cx="190195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lang="en" sz="1250">
                <a:solidFill>
                  <a:srgbClr val="444444"/>
                </a:solidFill>
                <a:latin typeface="Calibri"/>
                <a:ea typeface="Calibri"/>
                <a:cs typeface="Calibri"/>
                <a:sym typeface="Calibri"/>
              </a:rPr>
              <a:t>The manager</a:t>
            </a:r>
            <a:r>
              <a:rPr b="0" i="0" lang="en" sz="1250" u="none" cap="none" strike="noStrike">
                <a:solidFill>
                  <a:srgbClr val="444444"/>
                </a:solidFill>
                <a:latin typeface="Calibri"/>
                <a:ea typeface="Calibri"/>
                <a:cs typeface="Calibri"/>
                <a:sym typeface="Calibri"/>
              </a:rPr>
              <a:t> reviews and approves before any email reaches a client</a:t>
            </a:r>
            <a:endParaRPr b="0" i="0" sz="1250" u="none" cap="none" strike="noStrike">
              <a:solidFill>
                <a:schemeClr val="dk1"/>
              </a:solidFill>
              <a:latin typeface="Calibri"/>
              <a:ea typeface="Calibri"/>
              <a:cs typeface="Calibri"/>
              <a:sym typeface="Calibri"/>
            </a:endParaRPr>
          </a:p>
        </p:txBody>
      </p:sp>
      <p:sp>
        <p:nvSpPr>
          <p:cNvPr id="184" name="Google Shape;184;p18"/>
          <p:cNvSpPr/>
          <p:nvPr/>
        </p:nvSpPr>
        <p:spPr>
          <a:xfrm>
            <a:off x="3200400" y="3145536"/>
            <a:ext cx="2606040" cy="1435608"/>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
          <p:cNvSpPr/>
          <p:nvPr/>
        </p:nvSpPr>
        <p:spPr>
          <a:xfrm>
            <a:off x="3200400" y="3145536"/>
            <a:ext cx="73152" cy="1435608"/>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 name="Google Shape;186;p18"/>
          <p:cNvPicPr preferRelativeResize="0"/>
          <p:nvPr/>
        </p:nvPicPr>
        <p:blipFill rotWithShape="1">
          <a:blip r:embed="rId7">
            <a:alphaModFix/>
          </a:blip>
          <a:srcRect b="0" l="0" r="0" t="0"/>
          <a:stretch/>
        </p:blipFill>
        <p:spPr>
          <a:xfrm>
            <a:off x="3364992" y="3438144"/>
            <a:ext cx="384048" cy="384048"/>
          </a:xfrm>
          <a:prstGeom prst="rect">
            <a:avLst/>
          </a:prstGeom>
          <a:noFill/>
          <a:ln>
            <a:noFill/>
          </a:ln>
        </p:spPr>
      </p:pic>
      <p:sp>
        <p:nvSpPr>
          <p:cNvPr id="187" name="Google Shape;187;p18"/>
          <p:cNvSpPr/>
          <p:nvPr/>
        </p:nvSpPr>
        <p:spPr>
          <a:xfrm>
            <a:off x="3840480" y="3328416"/>
            <a:ext cx="190195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150"/>
              <a:buFont typeface="Calibri"/>
              <a:buNone/>
            </a:pPr>
            <a:r>
              <a:rPr b="1" i="0" lang="en" sz="1550" u="none" cap="none" strike="noStrike">
                <a:solidFill>
                  <a:srgbClr val="0B5D3B"/>
                </a:solidFill>
                <a:latin typeface="Calibri"/>
                <a:ea typeface="Calibri"/>
                <a:cs typeface="Calibri"/>
                <a:sym typeface="Calibri"/>
              </a:rPr>
              <a:t>Automated Logging</a:t>
            </a:r>
            <a:endParaRPr b="0" i="0" sz="1550" u="none" cap="none" strike="noStrike">
              <a:solidFill>
                <a:schemeClr val="dk1"/>
              </a:solidFill>
              <a:latin typeface="Calibri"/>
              <a:ea typeface="Calibri"/>
              <a:cs typeface="Calibri"/>
              <a:sym typeface="Calibri"/>
            </a:endParaRPr>
          </a:p>
        </p:txBody>
      </p:sp>
      <p:sp>
        <p:nvSpPr>
          <p:cNvPr id="188" name="Google Shape;188;p18"/>
          <p:cNvSpPr/>
          <p:nvPr/>
        </p:nvSpPr>
        <p:spPr>
          <a:xfrm>
            <a:off x="3840480" y="3666744"/>
            <a:ext cx="190195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 sz="1250" u="none" cap="none" strike="noStrike">
                <a:solidFill>
                  <a:srgbClr val="444444"/>
                </a:solidFill>
                <a:latin typeface="Calibri"/>
                <a:ea typeface="Calibri"/>
                <a:cs typeface="Calibri"/>
                <a:sym typeface="Calibri"/>
              </a:rPr>
              <a:t>Updates Google Sheets with outcomes automatically</a:t>
            </a:r>
            <a:endParaRPr b="0" i="0" sz="1250" u="none" cap="none" strike="noStrike">
              <a:solidFill>
                <a:schemeClr val="dk1"/>
              </a:solidFill>
              <a:latin typeface="Calibri"/>
              <a:ea typeface="Calibri"/>
              <a:cs typeface="Calibri"/>
              <a:sym typeface="Calibri"/>
            </a:endParaRPr>
          </a:p>
        </p:txBody>
      </p:sp>
      <p:sp>
        <p:nvSpPr>
          <p:cNvPr id="189" name="Google Shape;189;p18"/>
          <p:cNvSpPr/>
          <p:nvPr/>
        </p:nvSpPr>
        <p:spPr>
          <a:xfrm>
            <a:off x="6035040" y="3145536"/>
            <a:ext cx="2606040" cy="1435608"/>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
          <p:cNvSpPr/>
          <p:nvPr/>
        </p:nvSpPr>
        <p:spPr>
          <a:xfrm>
            <a:off x="6035040" y="3145536"/>
            <a:ext cx="73152" cy="1435608"/>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18"/>
          <p:cNvPicPr preferRelativeResize="0"/>
          <p:nvPr/>
        </p:nvPicPr>
        <p:blipFill rotWithShape="1">
          <a:blip r:embed="rId8">
            <a:alphaModFix/>
          </a:blip>
          <a:srcRect b="0" l="0" r="0" t="0"/>
          <a:stretch/>
        </p:blipFill>
        <p:spPr>
          <a:xfrm>
            <a:off x="6199632" y="3438144"/>
            <a:ext cx="384048" cy="384048"/>
          </a:xfrm>
          <a:prstGeom prst="rect">
            <a:avLst/>
          </a:prstGeom>
          <a:noFill/>
          <a:ln>
            <a:noFill/>
          </a:ln>
        </p:spPr>
      </p:pic>
      <p:sp>
        <p:nvSpPr>
          <p:cNvPr id="192" name="Google Shape;192;p18"/>
          <p:cNvSpPr/>
          <p:nvPr/>
        </p:nvSpPr>
        <p:spPr>
          <a:xfrm>
            <a:off x="6675120" y="3328416"/>
            <a:ext cx="190195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150"/>
              <a:buFont typeface="Calibri"/>
              <a:buNone/>
            </a:pPr>
            <a:r>
              <a:rPr b="1" i="0" lang="en" sz="1750" u="none" cap="none" strike="noStrike">
                <a:solidFill>
                  <a:srgbClr val="0B5D3B"/>
                </a:solidFill>
                <a:latin typeface="Calibri"/>
                <a:ea typeface="Calibri"/>
                <a:cs typeface="Calibri"/>
                <a:sym typeface="Calibri"/>
              </a:rPr>
              <a:t>Error Handling</a:t>
            </a:r>
            <a:endParaRPr b="0" i="0" sz="1750" u="none" cap="none" strike="noStrike">
              <a:solidFill>
                <a:schemeClr val="dk1"/>
              </a:solidFill>
              <a:latin typeface="Calibri"/>
              <a:ea typeface="Calibri"/>
              <a:cs typeface="Calibri"/>
              <a:sym typeface="Calibri"/>
            </a:endParaRPr>
          </a:p>
        </p:txBody>
      </p:sp>
      <p:sp>
        <p:nvSpPr>
          <p:cNvPr id="193" name="Google Shape;193;p18"/>
          <p:cNvSpPr/>
          <p:nvPr/>
        </p:nvSpPr>
        <p:spPr>
          <a:xfrm>
            <a:off x="6675120" y="3666744"/>
            <a:ext cx="1901952"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 sz="1350" u="none" cap="none" strike="noStrike">
                <a:solidFill>
                  <a:srgbClr val="444444"/>
                </a:solidFill>
                <a:latin typeface="Calibri"/>
                <a:ea typeface="Calibri"/>
                <a:cs typeface="Calibri"/>
                <a:sym typeface="Calibri"/>
              </a:rPr>
              <a:t>Separate AI-powered error workflow alerts the team of failures</a:t>
            </a:r>
            <a:endParaRPr b="0" i="0" sz="1350" u="none" cap="none" strike="noStrike">
              <a:solidFill>
                <a:schemeClr val="dk1"/>
              </a:solidFill>
              <a:latin typeface="Calibri"/>
              <a:ea typeface="Calibri"/>
              <a:cs typeface="Calibri"/>
              <a:sym typeface="Calibri"/>
            </a:endParaRPr>
          </a:p>
        </p:txBody>
      </p:sp>
      <p:sp>
        <p:nvSpPr>
          <p:cNvPr id="194" name="Google Shape;194;p18"/>
          <p:cNvSpPr/>
          <p:nvPr/>
        </p:nvSpPr>
        <p:spPr>
          <a:xfrm>
            <a:off x="0" y="4828032"/>
            <a:ext cx="9144000" cy="320040"/>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8"/>
          <p:cNvSpPr/>
          <p:nvPr/>
        </p:nvSpPr>
        <p:spPr>
          <a:xfrm>
            <a:off x="0" y="4828032"/>
            <a:ext cx="91440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Built with n8n  ·  Mistral AI  ·  Google Sheets  ·  Gmail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D27"/>
        </a:solidFill>
      </p:bgPr>
    </p:bg>
    <p:spTree>
      <p:nvGrpSpPr>
        <p:cNvPr id="200" name="Shape 200"/>
        <p:cNvGrpSpPr/>
        <p:nvPr/>
      </p:nvGrpSpPr>
      <p:grpSpPr>
        <a:xfrm>
          <a:off x="0" y="0"/>
          <a:ext cx="0" cy="0"/>
          <a:chOff x="0" y="0"/>
          <a:chExt cx="0" cy="0"/>
        </a:xfrm>
      </p:grpSpPr>
      <p:sp>
        <p:nvSpPr>
          <p:cNvPr id="201" name="Google Shape;201;p19"/>
          <p:cNvSpPr/>
          <p:nvPr/>
        </p:nvSpPr>
        <p:spPr>
          <a:xfrm>
            <a:off x="457200" y="1828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900"/>
              <a:buFont typeface="Calibri"/>
              <a:buNone/>
            </a:pPr>
            <a:r>
              <a:rPr b="1" i="0" lang="en" sz="1900" u="none" cap="none" strike="noStrike">
                <a:solidFill>
                  <a:srgbClr val="F4A300"/>
                </a:solidFill>
                <a:latin typeface="Calibri"/>
                <a:ea typeface="Calibri"/>
                <a:cs typeface="Calibri"/>
                <a:sym typeface="Calibri"/>
              </a:rPr>
              <a:t>SYSTEM ARCHITECTURE</a:t>
            </a:r>
            <a:endParaRPr b="0" i="0" sz="2700" u="none" cap="none" strike="noStrike">
              <a:solidFill>
                <a:schemeClr val="dk1"/>
              </a:solidFill>
              <a:latin typeface="Calibri"/>
              <a:ea typeface="Calibri"/>
              <a:cs typeface="Calibri"/>
              <a:sym typeface="Calibri"/>
            </a:endParaRPr>
          </a:p>
        </p:txBody>
      </p:sp>
      <p:sp>
        <p:nvSpPr>
          <p:cNvPr id="202" name="Google Shape;202;p19"/>
          <p:cNvSpPr/>
          <p:nvPr/>
        </p:nvSpPr>
        <p:spPr>
          <a:xfrm>
            <a:off x="402325" y="585168"/>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 sz="3900" u="none" cap="none" strike="noStrike">
                <a:solidFill>
                  <a:srgbClr val="FFFFFF"/>
                </a:solidFill>
                <a:latin typeface="Calibri"/>
                <a:ea typeface="Calibri"/>
                <a:cs typeface="Calibri"/>
                <a:sym typeface="Calibri"/>
              </a:rPr>
              <a:t>How the System Works</a:t>
            </a:r>
            <a:endParaRPr b="0" i="0" sz="3900" u="none" cap="none" strike="noStrike">
              <a:solidFill>
                <a:schemeClr val="dk1"/>
              </a:solidFill>
              <a:latin typeface="Calibri"/>
              <a:ea typeface="Calibri"/>
              <a:cs typeface="Calibri"/>
              <a:sym typeface="Calibri"/>
            </a:endParaRPr>
          </a:p>
        </p:txBody>
      </p:sp>
      <p:sp>
        <p:nvSpPr>
          <p:cNvPr id="203" name="Google Shape;203;p19"/>
          <p:cNvSpPr/>
          <p:nvPr/>
        </p:nvSpPr>
        <p:spPr>
          <a:xfrm>
            <a:off x="256032" y="1280160"/>
            <a:ext cx="1060704" cy="1920240"/>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557784" y="1371600"/>
            <a:ext cx="457200" cy="457200"/>
          </a:xfrm>
          <a:prstGeom prst="ellipse">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557784"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300"/>
              <a:buFont typeface="Calibri"/>
              <a:buNone/>
            </a:pPr>
            <a:r>
              <a:rPr b="1" i="0" lang="en" sz="1300" u="none" cap="none" strike="noStrike">
                <a:solidFill>
                  <a:srgbClr val="073D27"/>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pic>
        <p:nvPicPr>
          <p:cNvPr descr="preencoded.png" id="206" name="Google Shape;206;p19"/>
          <p:cNvPicPr preferRelativeResize="0"/>
          <p:nvPr/>
        </p:nvPicPr>
        <p:blipFill rotWithShape="1">
          <a:blip r:embed="rId3">
            <a:alphaModFix/>
          </a:blip>
          <a:srcRect b="0" l="0" r="0" t="0"/>
          <a:stretch/>
        </p:blipFill>
        <p:spPr>
          <a:xfrm>
            <a:off x="557784" y="1901952"/>
            <a:ext cx="457200" cy="457200"/>
          </a:xfrm>
          <a:prstGeom prst="rect">
            <a:avLst/>
          </a:prstGeom>
          <a:noFill/>
          <a:ln>
            <a:noFill/>
          </a:ln>
        </p:spPr>
      </p:pic>
      <p:sp>
        <p:nvSpPr>
          <p:cNvPr id="207" name="Google Shape;207;p19"/>
          <p:cNvSpPr/>
          <p:nvPr/>
        </p:nvSpPr>
        <p:spPr>
          <a:xfrm>
            <a:off x="283464" y="2450592"/>
            <a:ext cx="1005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 sz="1000" u="none" cap="none" strike="noStrike">
                <a:solidFill>
                  <a:srgbClr val="FFFFFF"/>
                </a:solidFill>
                <a:latin typeface="Calibri"/>
                <a:ea typeface="Calibri"/>
                <a:cs typeface="Calibri"/>
                <a:sym typeface="Calibri"/>
              </a:rPr>
              <a:t>Google Sheets</a:t>
            </a:r>
            <a:endParaRPr b="0" i="0" sz="1000" u="none" cap="none" strike="noStrike">
              <a:solidFill>
                <a:schemeClr val="dk1"/>
              </a:solidFill>
              <a:latin typeface="Calibri"/>
              <a:ea typeface="Calibri"/>
              <a:cs typeface="Calibri"/>
              <a:sym typeface="Calibri"/>
            </a:endParaRPr>
          </a:p>
        </p:txBody>
      </p:sp>
      <p:sp>
        <p:nvSpPr>
          <p:cNvPr id="208" name="Google Shape;208;p19"/>
          <p:cNvSpPr/>
          <p:nvPr/>
        </p:nvSpPr>
        <p:spPr>
          <a:xfrm>
            <a:off x="283464"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5B5"/>
              </a:buClr>
              <a:buSzPts val="800"/>
              <a:buFont typeface="Calibri"/>
              <a:buNone/>
            </a:pPr>
            <a:r>
              <a:rPr b="0" i="0" lang="en" sz="1200" u="none" cap="none" strike="noStrike">
                <a:solidFill>
                  <a:srgbClr val="A8D5B5"/>
                </a:solidFill>
                <a:latin typeface="Calibri"/>
                <a:ea typeface="Calibri"/>
                <a:cs typeface="Calibri"/>
                <a:sym typeface="Calibri"/>
              </a:rPr>
              <a:t>Audit Tracker</a:t>
            </a:r>
            <a:endParaRPr b="0" i="0" sz="1200" u="none" cap="none" strike="noStrike">
              <a:solidFill>
                <a:schemeClr val="dk1"/>
              </a:solidFill>
              <a:latin typeface="Calibri"/>
              <a:ea typeface="Calibri"/>
              <a:cs typeface="Calibri"/>
              <a:sym typeface="Calibri"/>
            </a:endParaRPr>
          </a:p>
        </p:txBody>
      </p:sp>
      <p:cxnSp>
        <p:nvCxnSpPr>
          <p:cNvPr id="209" name="Google Shape;209;p19"/>
          <p:cNvCxnSpPr/>
          <p:nvPr/>
        </p:nvCxnSpPr>
        <p:spPr>
          <a:xfrm>
            <a:off x="1371600" y="2240280"/>
            <a:ext cx="118872" cy="0"/>
          </a:xfrm>
          <a:prstGeom prst="straightConnector1">
            <a:avLst/>
          </a:prstGeom>
          <a:noFill/>
          <a:ln cap="flat" cmpd="sng" w="19050">
            <a:solidFill>
              <a:srgbClr val="F4A300"/>
            </a:solidFill>
            <a:prstDash val="solid"/>
            <a:round/>
            <a:headEnd len="sm" w="sm" type="none"/>
            <a:tailEnd len="sm" w="sm" type="none"/>
          </a:ln>
        </p:spPr>
      </p:cxnSp>
      <p:sp>
        <p:nvSpPr>
          <p:cNvPr id="210" name="Google Shape;210;p19"/>
          <p:cNvSpPr/>
          <p:nvPr/>
        </p:nvSpPr>
        <p:spPr>
          <a:xfrm>
            <a:off x="1435608" y="2103120"/>
            <a:ext cx="182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0" i="0" lang="en" sz="1000" u="none" cap="none" strike="noStrike">
                <a:solidFill>
                  <a:srgbClr val="F4A3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11" name="Google Shape;211;p19"/>
          <p:cNvSpPr/>
          <p:nvPr/>
        </p:nvSpPr>
        <p:spPr>
          <a:xfrm>
            <a:off x="1499616" y="1280160"/>
            <a:ext cx="1060704" cy="1920240"/>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1801368" y="1371600"/>
            <a:ext cx="457200" cy="457200"/>
          </a:xfrm>
          <a:prstGeom prst="ellipse">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
          <p:cNvSpPr/>
          <p:nvPr/>
        </p:nvSpPr>
        <p:spPr>
          <a:xfrm>
            <a:off x="1801368"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300"/>
              <a:buFont typeface="Calibri"/>
              <a:buNone/>
            </a:pPr>
            <a:r>
              <a:rPr b="1" i="0" lang="en" sz="1300" u="none" cap="none" strike="noStrike">
                <a:solidFill>
                  <a:srgbClr val="073D27"/>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pic>
        <p:nvPicPr>
          <p:cNvPr descr="preencoded.png" id="214" name="Google Shape;214;p19"/>
          <p:cNvPicPr preferRelativeResize="0"/>
          <p:nvPr/>
        </p:nvPicPr>
        <p:blipFill rotWithShape="1">
          <a:blip r:embed="rId4">
            <a:alphaModFix/>
          </a:blip>
          <a:srcRect b="0" l="0" r="0" t="0"/>
          <a:stretch/>
        </p:blipFill>
        <p:spPr>
          <a:xfrm>
            <a:off x="1801368" y="1901952"/>
            <a:ext cx="457200" cy="457200"/>
          </a:xfrm>
          <a:prstGeom prst="rect">
            <a:avLst/>
          </a:prstGeom>
          <a:noFill/>
          <a:ln>
            <a:noFill/>
          </a:ln>
        </p:spPr>
      </p:pic>
      <p:sp>
        <p:nvSpPr>
          <p:cNvPr id="215" name="Google Shape;215;p19"/>
          <p:cNvSpPr/>
          <p:nvPr/>
        </p:nvSpPr>
        <p:spPr>
          <a:xfrm>
            <a:off x="1527048" y="2450592"/>
            <a:ext cx="10058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 sz="1100" u="none" cap="none" strike="noStrike">
                <a:solidFill>
                  <a:srgbClr val="FFFFFF"/>
                </a:solidFill>
                <a:latin typeface="Calibri"/>
                <a:ea typeface="Calibri"/>
                <a:cs typeface="Calibri"/>
                <a:sym typeface="Calibri"/>
              </a:rPr>
              <a:t>Overdue Days</a:t>
            </a:r>
            <a:endParaRPr b="0" i="0" sz="1100" u="none" cap="none" strike="noStrike">
              <a:solidFill>
                <a:schemeClr val="dk1"/>
              </a:solidFill>
              <a:latin typeface="Calibri"/>
              <a:ea typeface="Calibri"/>
              <a:cs typeface="Calibri"/>
              <a:sym typeface="Calibri"/>
            </a:endParaRPr>
          </a:p>
        </p:txBody>
      </p:sp>
      <p:sp>
        <p:nvSpPr>
          <p:cNvPr id="216" name="Google Shape;216;p19"/>
          <p:cNvSpPr/>
          <p:nvPr/>
        </p:nvSpPr>
        <p:spPr>
          <a:xfrm>
            <a:off x="1527048"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5B5"/>
              </a:buClr>
              <a:buSzPts val="800"/>
              <a:buFont typeface="Calibri"/>
              <a:buNone/>
            </a:pPr>
            <a:r>
              <a:rPr b="0" i="0" lang="en" sz="1300" u="none" cap="none" strike="noStrike">
                <a:solidFill>
                  <a:srgbClr val="A8D5B5"/>
                </a:solidFill>
                <a:latin typeface="Calibri"/>
                <a:ea typeface="Calibri"/>
                <a:cs typeface="Calibri"/>
                <a:sym typeface="Calibri"/>
              </a:rPr>
              <a:t>Calculated</a:t>
            </a:r>
            <a:endParaRPr b="0" i="0" sz="1300" u="none" cap="none" strike="noStrike">
              <a:solidFill>
                <a:schemeClr val="dk1"/>
              </a:solidFill>
              <a:latin typeface="Calibri"/>
              <a:ea typeface="Calibri"/>
              <a:cs typeface="Calibri"/>
              <a:sym typeface="Calibri"/>
            </a:endParaRPr>
          </a:p>
        </p:txBody>
      </p:sp>
      <p:cxnSp>
        <p:nvCxnSpPr>
          <p:cNvPr id="217" name="Google Shape;217;p19"/>
          <p:cNvCxnSpPr/>
          <p:nvPr/>
        </p:nvCxnSpPr>
        <p:spPr>
          <a:xfrm>
            <a:off x="2615184" y="2240280"/>
            <a:ext cx="118872" cy="0"/>
          </a:xfrm>
          <a:prstGeom prst="straightConnector1">
            <a:avLst/>
          </a:prstGeom>
          <a:noFill/>
          <a:ln cap="flat" cmpd="sng" w="19050">
            <a:solidFill>
              <a:srgbClr val="F4A300"/>
            </a:solidFill>
            <a:prstDash val="solid"/>
            <a:round/>
            <a:headEnd len="sm" w="sm" type="none"/>
            <a:tailEnd len="sm" w="sm" type="none"/>
          </a:ln>
        </p:spPr>
      </p:cxnSp>
      <p:sp>
        <p:nvSpPr>
          <p:cNvPr id="218" name="Google Shape;218;p19"/>
          <p:cNvSpPr/>
          <p:nvPr/>
        </p:nvSpPr>
        <p:spPr>
          <a:xfrm>
            <a:off x="2679192" y="2103120"/>
            <a:ext cx="182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0" i="0" lang="en" sz="1000" u="none" cap="none" strike="noStrike">
                <a:solidFill>
                  <a:srgbClr val="F4A3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19" name="Google Shape;219;p19"/>
          <p:cNvSpPr/>
          <p:nvPr/>
        </p:nvSpPr>
        <p:spPr>
          <a:xfrm>
            <a:off x="2743200" y="1280160"/>
            <a:ext cx="1060704" cy="1920240"/>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p:nvPr/>
        </p:nvSpPr>
        <p:spPr>
          <a:xfrm>
            <a:off x="3044952" y="1371600"/>
            <a:ext cx="457200" cy="457200"/>
          </a:xfrm>
          <a:prstGeom prst="ellipse">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3044952"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300"/>
              <a:buFont typeface="Calibri"/>
              <a:buNone/>
            </a:pPr>
            <a:r>
              <a:rPr b="1" i="0" lang="en" sz="1300" u="none" cap="none" strike="noStrike">
                <a:solidFill>
                  <a:srgbClr val="073D27"/>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pic>
        <p:nvPicPr>
          <p:cNvPr descr="preencoded.png" id="222" name="Google Shape;222;p19"/>
          <p:cNvPicPr preferRelativeResize="0"/>
          <p:nvPr/>
        </p:nvPicPr>
        <p:blipFill rotWithShape="1">
          <a:blip r:embed="rId5">
            <a:alphaModFix/>
          </a:blip>
          <a:srcRect b="0" l="0" r="0" t="0"/>
          <a:stretch/>
        </p:blipFill>
        <p:spPr>
          <a:xfrm>
            <a:off x="3044952" y="1901952"/>
            <a:ext cx="457200" cy="457200"/>
          </a:xfrm>
          <a:prstGeom prst="rect">
            <a:avLst/>
          </a:prstGeom>
          <a:noFill/>
          <a:ln>
            <a:noFill/>
          </a:ln>
        </p:spPr>
      </p:pic>
      <p:sp>
        <p:nvSpPr>
          <p:cNvPr id="223" name="Google Shape;223;p19"/>
          <p:cNvSpPr/>
          <p:nvPr/>
        </p:nvSpPr>
        <p:spPr>
          <a:xfrm>
            <a:off x="2770632" y="2450592"/>
            <a:ext cx="10058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 sz="1300" u="none" cap="none" strike="noStrike">
                <a:solidFill>
                  <a:srgbClr val="FFFFFF"/>
                </a:solidFill>
                <a:latin typeface="Calibri"/>
                <a:ea typeface="Calibri"/>
                <a:cs typeface="Calibri"/>
                <a:sym typeface="Calibri"/>
              </a:rPr>
              <a:t>AI Classifier</a:t>
            </a:r>
            <a:endParaRPr b="0" i="0" sz="1300" u="none" cap="none" strike="noStrike">
              <a:solidFill>
                <a:schemeClr val="dk1"/>
              </a:solidFill>
              <a:latin typeface="Calibri"/>
              <a:ea typeface="Calibri"/>
              <a:cs typeface="Calibri"/>
              <a:sym typeface="Calibri"/>
            </a:endParaRPr>
          </a:p>
        </p:txBody>
      </p:sp>
      <p:sp>
        <p:nvSpPr>
          <p:cNvPr id="224" name="Google Shape;224;p19"/>
          <p:cNvSpPr/>
          <p:nvPr/>
        </p:nvSpPr>
        <p:spPr>
          <a:xfrm>
            <a:off x="2770632"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5B5"/>
              </a:buClr>
              <a:buSzPts val="800"/>
              <a:buFont typeface="Calibri"/>
              <a:buNone/>
            </a:pPr>
            <a:r>
              <a:rPr lang="en" sz="1000">
                <a:solidFill>
                  <a:srgbClr val="A8D5B5"/>
                </a:solidFill>
                <a:latin typeface="Calibri"/>
                <a:ea typeface="Calibri"/>
                <a:cs typeface="Calibri"/>
                <a:sym typeface="Calibri"/>
              </a:rPr>
              <a:t>Risk Assessment</a:t>
            </a:r>
            <a:endParaRPr b="0" i="0" sz="1000" u="none" cap="none" strike="noStrike">
              <a:solidFill>
                <a:schemeClr val="dk1"/>
              </a:solidFill>
              <a:latin typeface="Calibri"/>
              <a:ea typeface="Calibri"/>
              <a:cs typeface="Calibri"/>
              <a:sym typeface="Calibri"/>
            </a:endParaRPr>
          </a:p>
        </p:txBody>
      </p:sp>
      <p:cxnSp>
        <p:nvCxnSpPr>
          <p:cNvPr id="225" name="Google Shape;225;p19"/>
          <p:cNvCxnSpPr/>
          <p:nvPr/>
        </p:nvCxnSpPr>
        <p:spPr>
          <a:xfrm>
            <a:off x="3858768" y="2240280"/>
            <a:ext cx="118872" cy="0"/>
          </a:xfrm>
          <a:prstGeom prst="straightConnector1">
            <a:avLst/>
          </a:prstGeom>
          <a:noFill/>
          <a:ln cap="flat" cmpd="sng" w="19050">
            <a:solidFill>
              <a:srgbClr val="F4A300"/>
            </a:solidFill>
            <a:prstDash val="solid"/>
            <a:round/>
            <a:headEnd len="sm" w="sm" type="none"/>
            <a:tailEnd len="sm" w="sm" type="none"/>
          </a:ln>
        </p:spPr>
      </p:cxnSp>
      <p:sp>
        <p:nvSpPr>
          <p:cNvPr id="226" name="Google Shape;226;p19"/>
          <p:cNvSpPr/>
          <p:nvPr/>
        </p:nvSpPr>
        <p:spPr>
          <a:xfrm>
            <a:off x="3922776" y="2103120"/>
            <a:ext cx="182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0" i="0" lang="en" sz="1000" u="none" cap="none" strike="noStrike">
                <a:solidFill>
                  <a:srgbClr val="F4A3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27" name="Google Shape;227;p19"/>
          <p:cNvSpPr/>
          <p:nvPr/>
        </p:nvSpPr>
        <p:spPr>
          <a:xfrm>
            <a:off x="3986784" y="1280160"/>
            <a:ext cx="1060704" cy="1920240"/>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a:off x="4288536" y="1371600"/>
            <a:ext cx="457200" cy="457200"/>
          </a:xfrm>
          <a:prstGeom prst="ellipse">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a:off x="4288536"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300"/>
              <a:buFont typeface="Calibri"/>
              <a:buNone/>
            </a:pPr>
            <a:r>
              <a:rPr b="1" i="0" lang="en" sz="1300" u="none" cap="none" strike="noStrike">
                <a:solidFill>
                  <a:srgbClr val="073D27"/>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pic>
        <p:nvPicPr>
          <p:cNvPr descr="preencoded.png" id="230" name="Google Shape;230;p19"/>
          <p:cNvPicPr preferRelativeResize="0"/>
          <p:nvPr/>
        </p:nvPicPr>
        <p:blipFill rotWithShape="1">
          <a:blip r:embed="rId6">
            <a:alphaModFix/>
          </a:blip>
          <a:srcRect b="0" l="0" r="0" t="0"/>
          <a:stretch/>
        </p:blipFill>
        <p:spPr>
          <a:xfrm>
            <a:off x="4288536" y="1901952"/>
            <a:ext cx="457200" cy="457200"/>
          </a:xfrm>
          <a:prstGeom prst="rect">
            <a:avLst/>
          </a:prstGeom>
          <a:noFill/>
          <a:ln>
            <a:noFill/>
          </a:ln>
        </p:spPr>
      </p:pic>
      <p:sp>
        <p:nvSpPr>
          <p:cNvPr id="231" name="Google Shape;231;p19"/>
          <p:cNvSpPr/>
          <p:nvPr/>
        </p:nvSpPr>
        <p:spPr>
          <a:xfrm>
            <a:off x="4014216" y="2450592"/>
            <a:ext cx="10058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 sz="1100" u="none" cap="none" strike="noStrike">
                <a:solidFill>
                  <a:srgbClr val="FFFFFF"/>
                </a:solidFill>
                <a:latin typeface="Calibri"/>
                <a:ea typeface="Calibri"/>
                <a:cs typeface="Calibri"/>
                <a:sym typeface="Calibri"/>
              </a:rPr>
              <a:t>Email Drafter</a:t>
            </a:r>
            <a:endParaRPr b="0" i="0" sz="1100" u="none" cap="none" strike="noStrike">
              <a:solidFill>
                <a:schemeClr val="dk1"/>
              </a:solidFill>
              <a:latin typeface="Calibri"/>
              <a:ea typeface="Calibri"/>
              <a:cs typeface="Calibri"/>
              <a:sym typeface="Calibri"/>
            </a:endParaRPr>
          </a:p>
        </p:txBody>
      </p:sp>
      <p:sp>
        <p:nvSpPr>
          <p:cNvPr id="232" name="Google Shape;232;p19"/>
          <p:cNvSpPr/>
          <p:nvPr/>
        </p:nvSpPr>
        <p:spPr>
          <a:xfrm>
            <a:off x="4014216"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5B5"/>
              </a:buClr>
              <a:buSzPts val="800"/>
              <a:buFont typeface="Calibri"/>
              <a:buNone/>
            </a:pPr>
            <a:r>
              <a:rPr b="0" i="0" lang="en" sz="1100" u="none" cap="none" strike="noStrike">
                <a:solidFill>
                  <a:srgbClr val="A8D5B5"/>
                </a:solidFill>
                <a:latin typeface="Calibri"/>
                <a:ea typeface="Calibri"/>
                <a:cs typeface="Calibri"/>
                <a:sym typeface="Calibri"/>
              </a:rPr>
              <a:t>AI</a:t>
            </a:r>
            <a:r>
              <a:rPr lang="en" sz="1100">
                <a:solidFill>
                  <a:srgbClr val="A8D5B5"/>
                </a:solidFill>
                <a:latin typeface="Calibri"/>
                <a:ea typeface="Calibri"/>
                <a:cs typeface="Calibri"/>
                <a:sym typeface="Calibri"/>
              </a:rPr>
              <a:t>-Generated</a:t>
            </a:r>
            <a:endParaRPr b="0" i="0" sz="1100" u="none" cap="none" strike="noStrike">
              <a:solidFill>
                <a:schemeClr val="dk1"/>
              </a:solidFill>
              <a:latin typeface="Calibri"/>
              <a:ea typeface="Calibri"/>
              <a:cs typeface="Calibri"/>
              <a:sym typeface="Calibri"/>
            </a:endParaRPr>
          </a:p>
        </p:txBody>
      </p:sp>
      <p:cxnSp>
        <p:nvCxnSpPr>
          <p:cNvPr id="233" name="Google Shape;233;p19"/>
          <p:cNvCxnSpPr/>
          <p:nvPr/>
        </p:nvCxnSpPr>
        <p:spPr>
          <a:xfrm>
            <a:off x="5102352" y="2240280"/>
            <a:ext cx="118872" cy="0"/>
          </a:xfrm>
          <a:prstGeom prst="straightConnector1">
            <a:avLst/>
          </a:prstGeom>
          <a:noFill/>
          <a:ln cap="flat" cmpd="sng" w="19050">
            <a:solidFill>
              <a:srgbClr val="F4A300"/>
            </a:solidFill>
            <a:prstDash val="solid"/>
            <a:round/>
            <a:headEnd len="sm" w="sm" type="none"/>
            <a:tailEnd len="sm" w="sm" type="none"/>
          </a:ln>
        </p:spPr>
      </p:cxnSp>
      <p:sp>
        <p:nvSpPr>
          <p:cNvPr id="234" name="Google Shape;234;p19"/>
          <p:cNvSpPr/>
          <p:nvPr/>
        </p:nvSpPr>
        <p:spPr>
          <a:xfrm>
            <a:off x="5166360" y="2103120"/>
            <a:ext cx="182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0" i="0" lang="en" sz="1000" u="none" cap="none" strike="noStrike">
                <a:solidFill>
                  <a:srgbClr val="F4A3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35" name="Google Shape;235;p19"/>
          <p:cNvSpPr/>
          <p:nvPr/>
        </p:nvSpPr>
        <p:spPr>
          <a:xfrm>
            <a:off x="5230368" y="1280160"/>
            <a:ext cx="1060704" cy="1920240"/>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5532120" y="1371600"/>
            <a:ext cx="457200" cy="457200"/>
          </a:xfrm>
          <a:prstGeom prst="ellipse">
            <a:avLst/>
          </a:prstGeom>
          <a:solidFill>
            <a:srgbClr val="073D27"/>
          </a:solidFill>
          <a:ln cap="flat" cmpd="sng" w="12700">
            <a:solidFill>
              <a:srgbClr val="073D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5532120"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pic>
        <p:nvPicPr>
          <p:cNvPr descr="preencoded.png" id="238" name="Google Shape;238;p19"/>
          <p:cNvPicPr preferRelativeResize="0"/>
          <p:nvPr/>
        </p:nvPicPr>
        <p:blipFill rotWithShape="1">
          <a:blip r:embed="rId7">
            <a:alphaModFix/>
          </a:blip>
          <a:srcRect b="0" l="0" r="0" t="0"/>
          <a:stretch/>
        </p:blipFill>
        <p:spPr>
          <a:xfrm>
            <a:off x="5532120" y="1901952"/>
            <a:ext cx="457200" cy="457200"/>
          </a:xfrm>
          <a:prstGeom prst="rect">
            <a:avLst/>
          </a:prstGeom>
          <a:noFill/>
          <a:ln>
            <a:noFill/>
          </a:ln>
        </p:spPr>
      </p:pic>
      <p:sp>
        <p:nvSpPr>
          <p:cNvPr id="239" name="Google Shape;239;p19"/>
          <p:cNvSpPr/>
          <p:nvPr/>
        </p:nvSpPr>
        <p:spPr>
          <a:xfrm>
            <a:off x="5257800" y="2450592"/>
            <a:ext cx="10058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900"/>
              <a:buFont typeface="Calibri"/>
              <a:buNone/>
            </a:pPr>
            <a:r>
              <a:rPr b="1" i="0" lang="en" sz="1300" u="none" cap="none" strike="noStrike">
                <a:solidFill>
                  <a:srgbClr val="073D27"/>
                </a:solidFill>
                <a:latin typeface="Calibri"/>
                <a:ea typeface="Calibri"/>
                <a:cs typeface="Calibri"/>
                <a:sym typeface="Calibri"/>
              </a:rPr>
              <a:t>Manager Approval</a:t>
            </a:r>
            <a:endParaRPr b="0" i="0" sz="1300" u="none" cap="none" strike="noStrike">
              <a:solidFill>
                <a:schemeClr val="dk1"/>
              </a:solidFill>
              <a:latin typeface="Calibri"/>
              <a:ea typeface="Calibri"/>
              <a:cs typeface="Calibri"/>
              <a:sym typeface="Calibri"/>
            </a:endParaRPr>
          </a:p>
        </p:txBody>
      </p:sp>
      <p:sp>
        <p:nvSpPr>
          <p:cNvPr id="240" name="Google Shape;240;p19"/>
          <p:cNvSpPr/>
          <p:nvPr/>
        </p:nvSpPr>
        <p:spPr>
          <a:xfrm>
            <a:off x="5257800"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800"/>
              <a:buFont typeface="Calibri"/>
              <a:buNone/>
            </a:pPr>
            <a:r>
              <a:rPr b="0" i="0" lang="en" sz="1200" u="none" cap="none" strike="noStrike">
                <a:solidFill>
                  <a:srgbClr val="073D27"/>
                </a:solidFill>
                <a:latin typeface="Calibri"/>
                <a:ea typeface="Calibri"/>
                <a:cs typeface="Calibri"/>
                <a:sym typeface="Calibri"/>
              </a:rPr>
              <a:t>Human Gate</a:t>
            </a:r>
            <a:endParaRPr b="0" i="0" sz="1200" u="none" cap="none" strike="noStrike">
              <a:solidFill>
                <a:schemeClr val="dk1"/>
              </a:solidFill>
              <a:latin typeface="Calibri"/>
              <a:ea typeface="Calibri"/>
              <a:cs typeface="Calibri"/>
              <a:sym typeface="Calibri"/>
            </a:endParaRPr>
          </a:p>
        </p:txBody>
      </p:sp>
      <p:cxnSp>
        <p:nvCxnSpPr>
          <p:cNvPr id="241" name="Google Shape;241;p19"/>
          <p:cNvCxnSpPr/>
          <p:nvPr/>
        </p:nvCxnSpPr>
        <p:spPr>
          <a:xfrm>
            <a:off x="6345936" y="2240280"/>
            <a:ext cx="118872" cy="0"/>
          </a:xfrm>
          <a:prstGeom prst="straightConnector1">
            <a:avLst/>
          </a:prstGeom>
          <a:noFill/>
          <a:ln cap="flat" cmpd="sng" w="19050">
            <a:solidFill>
              <a:srgbClr val="F4A300"/>
            </a:solidFill>
            <a:prstDash val="solid"/>
            <a:round/>
            <a:headEnd len="sm" w="sm" type="none"/>
            <a:tailEnd len="sm" w="sm" type="none"/>
          </a:ln>
        </p:spPr>
      </p:cxnSp>
      <p:sp>
        <p:nvSpPr>
          <p:cNvPr id="242" name="Google Shape;242;p19"/>
          <p:cNvSpPr/>
          <p:nvPr/>
        </p:nvSpPr>
        <p:spPr>
          <a:xfrm>
            <a:off x="6409944" y="2103120"/>
            <a:ext cx="182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0" i="0" lang="en" sz="1000" u="none" cap="none" strike="noStrike">
                <a:solidFill>
                  <a:srgbClr val="F4A3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43" name="Google Shape;243;p19"/>
          <p:cNvSpPr/>
          <p:nvPr/>
        </p:nvSpPr>
        <p:spPr>
          <a:xfrm>
            <a:off x="6473952" y="1280160"/>
            <a:ext cx="1060704" cy="1920240"/>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6775704" y="1371600"/>
            <a:ext cx="457200" cy="457200"/>
          </a:xfrm>
          <a:prstGeom prst="ellipse">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6775704"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300"/>
              <a:buFont typeface="Calibri"/>
              <a:buNone/>
            </a:pPr>
            <a:r>
              <a:rPr b="1" i="0" lang="en" sz="1300" u="none" cap="none" strike="noStrike">
                <a:solidFill>
                  <a:srgbClr val="073D27"/>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pic>
        <p:nvPicPr>
          <p:cNvPr descr="preencoded.png" id="246" name="Google Shape;246;p19"/>
          <p:cNvPicPr preferRelativeResize="0"/>
          <p:nvPr/>
        </p:nvPicPr>
        <p:blipFill rotWithShape="1">
          <a:blip r:embed="rId8">
            <a:alphaModFix/>
          </a:blip>
          <a:srcRect b="0" l="0" r="0" t="0"/>
          <a:stretch/>
        </p:blipFill>
        <p:spPr>
          <a:xfrm>
            <a:off x="6775704" y="1901952"/>
            <a:ext cx="457200" cy="457200"/>
          </a:xfrm>
          <a:prstGeom prst="rect">
            <a:avLst/>
          </a:prstGeom>
          <a:noFill/>
          <a:ln>
            <a:noFill/>
          </a:ln>
        </p:spPr>
      </p:pic>
      <p:sp>
        <p:nvSpPr>
          <p:cNvPr id="247" name="Google Shape;247;p19"/>
          <p:cNvSpPr/>
          <p:nvPr/>
        </p:nvSpPr>
        <p:spPr>
          <a:xfrm>
            <a:off x="6291075" y="2496375"/>
            <a:ext cx="1453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 sz="1200" u="none" cap="none" strike="noStrike">
                <a:solidFill>
                  <a:srgbClr val="FFFFFF"/>
                </a:solidFill>
                <a:latin typeface="Calibri"/>
                <a:ea typeface="Calibri"/>
                <a:cs typeface="Calibri"/>
                <a:sym typeface="Calibri"/>
              </a:rPr>
              <a:t>Client Notified</a:t>
            </a:r>
            <a:endParaRPr b="0" i="0" sz="1200" u="none" cap="none" strike="noStrike">
              <a:solidFill>
                <a:schemeClr val="dk1"/>
              </a:solidFill>
              <a:latin typeface="Calibri"/>
              <a:ea typeface="Calibri"/>
              <a:cs typeface="Calibri"/>
              <a:sym typeface="Calibri"/>
            </a:endParaRPr>
          </a:p>
        </p:txBody>
      </p:sp>
      <p:sp>
        <p:nvSpPr>
          <p:cNvPr id="248" name="Google Shape;248;p19"/>
          <p:cNvSpPr/>
          <p:nvPr/>
        </p:nvSpPr>
        <p:spPr>
          <a:xfrm>
            <a:off x="6501384"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5B5"/>
              </a:buClr>
              <a:buSzPts val="800"/>
              <a:buFont typeface="Calibri"/>
              <a:buNone/>
            </a:pPr>
            <a:r>
              <a:rPr b="0" i="0" lang="en" sz="1500" u="none" cap="none" strike="noStrike">
                <a:solidFill>
                  <a:srgbClr val="A8D5B5"/>
                </a:solidFill>
                <a:latin typeface="Calibri"/>
                <a:ea typeface="Calibri"/>
                <a:cs typeface="Calibri"/>
                <a:sym typeface="Calibri"/>
              </a:rPr>
              <a:t>Email Sent</a:t>
            </a:r>
            <a:endParaRPr b="0" i="0" sz="1500" u="none" cap="none" strike="noStrike">
              <a:solidFill>
                <a:schemeClr val="dk1"/>
              </a:solidFill>
              <a:latin typeface="Calibri"/>
              <a:ea typeface="Calibri"/>
              <a:cs typeface="Calibri"/>
              <a:sym typeface="Calibri"/>
            </a:endParaRPr>
          </a:p>
        </p:txBody>
      </p:sp>
      <p:cxnSp>
        <p:nvCxnSpPr>
          <p:cNvPr id="249" name="Google Shape;249;p19"/>
          <p:cNvCxnSpPr/>
          <p:nvPr/>
        </p:nvCxnSpPr>
        <p:spPr>
          <a:xfrm>
            <a:off x="7589520" y="2240280"/>
            <a:ext cx="118872" cy="0"/>
          </a:xfrm>
          <a:prstGeom prst="straightConnector1">
            <a:avLst/>
          </a:prstGeom>
          <a:noFill/>
          <a:ln cap="flat" cmpd="sng" w="19050">
            <a:solidFill>
              <a:srgbClr val="F4A300"/>
            </a:solidFill>
            <a:prstDash val="solid"/>
            <a:round/>
            <a:headEnd len="sm" w="sm" type="none"/>
            <a:tailEnd len="sm" w="sm" type="none"/>
          </a:ln>
        </p:spPr>
      </p:cxnSp>
      <p:sp>
        <p:nvSpPr>
          <p:cNvPr id="250" name="Google Shape;250;p19"/>
          <p:cNvSpPr/>
          <p:nvPr/>
        </p:nvSpPr>
        <p:spPr>
          <a:xfrm>
            <a:off x="7653528" y="2103120"/>
            <a:ext cx="182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000"/>
              <a:buFont typeface="Calibri"/>
              <a:buNone/>
            </a:pPr>
            <a:r>
              <a:rPr b="0" i="0" lang="en" sz="1000" u="none" cap="none" strike="noStrike">
                <a:solidFill>
                  <a:srgbClr val="F4A3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51" name="Google Shape;251;p19"/>
          <p:cNvSpPr/>
          <p:nvPr/>
        </p:nvSpPr>
        <p:spPr>
          <a:xfrm>
            <a:off x="7717536" y="1280160"/>
            <a:ext cx="1060704" cy="1920240"/>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8019288" y="1371600"/>
            <a:ext cx="457200" cy="457200"/>
          </a:xfrm>
          <a:prstGeom prst="ellipse">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8019288" y="13716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300"/>
              <a:buFont typeface="Calibri"/>
              <a:buNone/>
            </a:pPr>
            <a:r>
              <a:rPr b="1" i="0" lang="en" sz="1300" u="none" cap="none" strike="noStrike">
                <a:solidFill>
                  <a:srgbClr val="073D27"/>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pic>
        <p:nvPicPr>
          <p:cNvPr descr="preencoded.png" id="254" name="Google Shape;254;p19"/>
          <p:cNvPicPr preferRelativeResize="0"/>
          <p:nvPr/>
        </p:nvPicPr>
        <p:blipFill rotWithShape="1">
          <a:blip r:embed="rId9">
            <a:alphaModFix/>
          </a:blip>
          <a:srcRect b="0" l="0" r="0" t="0"/>
          <a:stretch/>
        </p:blipFill>
        <p:spPr>
          <a:xfrm>
            <a:off x="8019288" y="1901952"/>
            <a:ext cx="457200" cy="457200"/>
          </a:xfrm>
          <a:prstGeom prst="rect">
            <a:avLst/>
          </a:prstGeom>
          <a:noFill/>
          <a:ln>
            <a:noFill/>
          </a:ln>
        </p:spPr>
      </p:pic>
      <p:sp>
        <p:nvSpPr>
          <p:cNvPr id="255" name="Google Shape;255;p19"/>
          <p:cNvSpPr/>
          <p:nvPr/>
        </p:nvSpPr>
        <p:spPr>
          <a:xfrm>
            <a:off x="7744968" y="2450592"/>
            <a:ext cx="10058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 sz="1600" u="none" cap="none" strike="noStrike">
                <a:solidFill>
                  <a:srgbClr val="FFFFFF"/>
                </a:solidFill>
                <a:latin typeface="Calibri"/>
                <a:ea typeface="Calibri"/>
                <a:cs typeface="Calibri"/>
                <a:sym typeface="Calibri"/>
              </a:rPr>
              <a:t>Audit Log</a:t>
            </a:r>
            <a:endParaRPr b="0" i="0" sz="1600" u="none" cap="none" strike="noStrike">
              <a:solidFill>
                <a:schemeClr val="dk1"/>
              </a:solidFill>
              <a:latin typeface="Calibri"/>
              <a:ea typeface="Calibri"/>
              <a:cs typeface="Calibri"/>
              <a:sym typeface="Calibri"/>
            </a:endParaRPr>
          </a:p>
        </p:txBody>
      </p:sp>
      <p:sp>
        <p:nvSpPr>
          <p:cNvPr id="256" name="Google Shape;256;p19"/>
          <p:cNvSpPr/>
          <p:nvPr/>
        </p:nvSpPr>
        <p:spPr>
          <a:xfrm>
            <a:off x="7744968" y="2834640"/>
            <a:ext cx="1005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5B5"/>
              </a:buClr>
              <a:buSzPts val="800"/>
              <a:buFont typeface="Calibri"/>
              <a:buNone/>
            </a:pPr>
            <a:r>
              <a:rPr b="0" i="0" lang="en" sz="1700" u="none" cap="none" strike="noStrike">
                <a:solidFill>
                  <a:srgbClr val="A8D5B5"/>
                </a:solidFill>
                <a:latin typeface="Calibri"/>
                <a:ea typeface="Calibri"/>
                <a:cs typeface="Calibri"/>
                <a:sym typeface="Calibri"/>
              </a:rPr>
              <a:t>Sheets </a:t>
            </a:r>
            <a:endParaRPr b="0" i="0" sz="1700" u="none" cap="none" strike="noStrike">
              <a:solidFill>
                <a:schemeClr val="dk1"/>
              </a:solidFill>
              <a:latin typeface="Calibri"/>
              <a:ea typeface="Calibri"/>
              <a:cs typeface="Calibri"/>
              <a:sym typeface="Calibri"/>
            </a:endParaRPr>
          </a:p>
        </p:txBody>
      </p:sp>
      <p:sp>
        <p:nvSpPr>
          <p:cNvPr id="257" name="Google Shape;257;p19"/>
          <p:cNvSpPr/>
          <p:nvPr/>
        </p:nvSpPr>
        <p:spPr>
          <a:xfrm>
            <a:off x="3200400" y="3447288"/>
            <a:ext cx="228600" cy="182880"/>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3493008" y="3447288"/>
            <a:ext cx="5303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1000"/>
              <a:buFont typeface="Calibri"/>
              <a:buNone/>
            </a:pPr>
            <a:r>
              <a:rPr b="0" i="0" lang="en" sz="2000" u="none" cap="none" strike="noStrike">
                <a:solidFill>
                  <a:srgbClr val="A8D5B5"/>
                </a:solidFill>
                <a:latin typeface="Calibri"/>
                <a:ea typeface="Calibri"/>
                <a:cs typeface="Calibri"/>
                <a:sym typeface="Calibri"/>
              </a:rPr>
              <a:t>= Manager appr</a:t>
            </a:r>
            <a:r>
              <a:rPr lang="en" sz="2000">
                <a:solidFill>
                  <a:srgbClr val="A8D5B5"/>
                </a:solidFill>
                <a:latin typeface="Calibri"/>
                <a:ea typeface="Calibri"/>
                <a:cs typeface="Calibri"/>
                <a:sym typeface="Calibri"/>
              </a:rPr>
              <a:t>approval</a:t>
            </a:r>
            <a:r>
              <a:rPr b="0" i="0" lang="en" sz="2000" u="none" cap="none" strike="noStrike">
                <a:solidFill>
                  <a:srgbClr val="A8D5B5"/>
                </a:solidFill>
                <a:latin typeface="Calibri"/>
                <a:ea typeface="Calibri"/>
                <a:cs typeface="Calibri"/>
                <a:sym typeface="Calibri"/>
              </a:rPr>
              <a:t>ate (human oversight)</a:t>
            </a:r>
            <a:endParaRPr b="0" i="0" sz="2000" u="none" cap="none" strike="noStrike">
              <a:solidFill>
                <a:schemeClr val="dk1"/>
              </a:solidFill>
              <a:latin typeface="Calibri"/>
              <a:ea typeface="Calibri"/>
              <a:cs typeface="Calibri"/>
              <a:sym typeface="Calibri"/>
            </a:endParaRPr>
          </a:p>
        </p:txBody>
      </p:sp>
      <p:sp>
        <p:nvSpPr>
          <p:cNvPr id="259" name="Google Shape;259;p19"/>
          <p:cNvSpPr/>
          <p:nvPr/>
        </p:nvSpPr>
        <p:spPr>
          <a:xfrm>
            <a:off x="0" y="4773168"/>
            <a:ext cx="914400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AB85"/>
              </a:buClr>
              <a:buSzPts val="900"/>
              <a:buFont typeface="Calibri"/>
              <a:buNone/>
            </a:pPr>
            <a:r>
              <a:rPr b="0" i="0" lang="en" sz="1700" u="none" cap="none" strike="noStrike">
                <a:solidFill>
                  <a:srgbClr val="6AAB85"/>
                </a:solidFill>
                <a:latin typeface="Calibri"/>
                <a:ea typeface="Calibri"/>
                <a:cs typeface="Calibri"/>
                <a:sym typeface="Calibri"/>
              </a:rPr>
              <a:t>Powered by: n8n Workflow Automation  ·  Mistral AI  ·  Google Sheets API  ·  Gmail API  ·</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20"/>
          <p:cNvSpPr/>
          <p:nvPr/>
        </p:nvSpPr>
        <p:spPr>
          <a:xfrm>
            <a:off x="0" y="0"/>
            <a:ext cx="9144000" cy="1005840"/>
          </a:xfrm>
          <a:prstGeom prst="rect">
            <a:avLst/>
          </a:prstGeom>
          <a:solidFill>
            <a:srgbClr val="0B5D3B"/>
          </a:solidFill>
          <a:ln cap="flat" cmpd="sng" w="12700">
            <a:solidFill>
              <a:srgbClr val="0B5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p:nvPr/>
        </p:nvSpPr>
        <p:spPr>
          <a:xfrm>
            <a:off x="457200" y="1828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900"/>
              <a:buFont typeface="Calibri"/>
              <a:buNone/>
            </a:pPr>
            <a:r>
              <a:rPr b="1" i="0" lang="en" sz="1700" u="none" cap="none" strike="noStrike">
                <a:solidFill>
                  <a:srgbClr val="F4A300"/>
                </a:solidFill>
                <a:latin typeface="Calibri"/>
                <a:ea typeface="Calibri"/>
                <a:cs typeface="Calibri"/>
                <a:sym typeface="Calibri"/>
              </a:rPr>
              <a:t>KEY FEATURES &amp; RESULTS</a:t>
            </a:r>
            <a:endParaRPr b="0" i="0" sz="1700" u="none" cap="none" strike="noStrike">
              <a:solidFill>
                <a:schemeClr val="dk1"/>
              </a:solidFill>
              <a:latin typeface="Calibri"/>
              <a:ea typeface="Calibri"/>
              <a:cs typeface="Calibri"/>
              <a:sym typeface="Calibri"/>
            </a:endParaRPr>
          </a:p>
        </p:txBody>
      </p:sp>
      <p:sp>
        <p:nvSpPr>
          <p:cNvPr id="267" name="Google Shape;267;p20"/>
          <p:cNvSpPr/>
          <p:nvPr/>
        </p:nvSpPr>
        <p:spPr>
          <a:xfrm>
            <a:off x="457200" y="374982"/>
            <a:ext cx="82296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 sz="3800" u="none" cap="none" strike="noStrike">
                <a:solidFill>
                  <a:srgbClr val="FFFFFF"/>
                </a:solidFill>
                <a:latin typeface="Calibri"/>
                <a:ea typeface="Calibri"/>
                <a:cs typeface="Calibri"/>
                <a:sym typeface="Calibri"/>
              </a:rPr>
              <a:t>Business Value</a:t>
            </a:r>
            <a:endParaRPr b="0" i="0" sz="3800" u="none" cap="none" strike="noStrike">
              <a:solidFill>
                <a:schemeClr val="dk1"/>
              </a:solidFill>
              <a:latin typeface="Calibri"/>
              <a:ea typeface="Calibri"/>
              <a:cs typeface="Calibri"/>
              <a:sym typeface="Calibri"/>
            </a:endParaRPr>
          </a:p>
        </p:txBody>
      </p:sp>
      <p:sp>
        <p:nvSpPr>
          <p:cNvPr id="268" name="Google Shape;268;p20"/>
          <p:cNvSpPr/>
          <p:nvPr/>
        </p:nvSpPr>
        <p:spPr>
          <a:xfrm>
            <a:off x="365760" y="1115568"/>
            <a:ext cx="4023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000"/>
              <a:buFont typeface="Calibri"/>
              <a:buNone/>
            </a:pPr>
            <a:r>
              <a:rPr b="1" i="0" lang="en" sz="1000" u="none" cap="none" strike="noStrike">
                <a:solidFill>
                  <a:srgbClr val="0B5D3B"/>
                </a:solidFill>
                <a:latin typeface="Calibri"/>
                <a:ea typeface="Calibri"/>
                <a:cs typeface="Calibri"/>
                <a:sym typeface="Calibri"/>
              </a:rPr>
              <a:t>KEY FEATURES</a:t>
            </a:r>
            <a:endParaRPr b="0" i="0" sz="1000" u="none" cap="none" strike="noStrike">
              <a:solidFill>
                <a:schemeClr val="dk1"/>
              </a:solidFill>
              <a:latin typeface="Calibri"/>
              <a:ea typeface="Calibri"/>
              <a:cs typeface="Calibri"/>
              <a:sym typeface="Calibri"/>
            </a:endParaRPr>
          </a:p>
        </p:txBody>
      </p:sp>
      <p:sp>
        <p:nvSpPr>
          <p:cNvPr id="269" name="Google Shape;269;p20"/>
          <p:cNvSpPr/>
          <p:nvPr/>
        </p:nvSpPr>
        <p:spPr>
          <a:xfrm>
            <a:off x="365760" y="1463040"/>
            <a:ext cx="4023360" cy="557784"/>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0" name="Google Shape;270;p20"/>
          <p:cNvPicPr preferRelativeResize="0"/>
          <p:nvPr/>
        </p:nvPicPr>
        <p:blipFill rotWithShape="1">
          <a:blip r:embed="rId3">
            <a:alphaModFix/>
          </a:blip>
          <a:srcRect b="0" l="0" r="0" t="0"/>
          <a:stretch/>
        </p:blipFill>
        <p:spPr>
          <a:xfrm>
            <a:off x="512064" y="1536192"/>
            <a:ext cx="274320" cy="274320"/>
          </a:xfrm>
          <a:prstGeom prst="rect">
            <a:avLst/>
          </a:prstGeom>
          <a:noFill/>
          <a:ln>
            <a:noFill/>
          </a:ln>
        </p:spPr>
      </p:pic>
      <p:sp>
        <p:nvSpPr>
          <p:cNvPr id="271" name="Google Shape;271;p20"/>
          <p:cNvSpPr/>
          <p:nvPr/>
        </p:nvSpPr>
        <p:spPr>
          <a:xfrm>
            <a:off x="914400" y="1508760"/>
            <a:ext cx="33832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50"/>
              <a:buFont typeface="Calibri"/>
              <a:buNone/>
            </a:pPr>
            <a:r>
              <a:rPr b="0" i="0" lang="en" sz="1750" u="none" cap="none" strike="noStrike">
                <a:solidFill>
                  <a:srgbClr val="444444"/>
                </a:solidFill>
                <a:latin typeface="Calibri"/>
                <a:ea typeface="Calibri"/>
                <a:cs typeface="Calibri"/>
                <a:sym typeface="Calibri"/>
              </a:rPr>
              <a:t>Automated document monitoring</a:t>
            </a:r>
            <a:endParaRPr b="0" i="0" sz="1750" u="none" cap="none" strike="noStrike">
              <a:solidFill>
                <a:schemeClr val="dk1"/>
              </a:solidFill>
              <a:latin typeface="Calibri"/>
              <a:ea typeface="Calibri"/>
              <a:cs typeface="Calibri"/>
              <a:sym typeface="Calibri"/>
            </a:endParaRPr>
          </a:p>
        </p:txBody>
      </p:sp>
      <p:sp>
        <p:nvSpPr>
          <p:cNvPr id="272" name="Google Shape;272;p20"/>
          <p:cNvSpPr/>
          <p:nvPr/>
        </p:nvSpPr>
        <p:spPr>
          <a:xfrm>
            <a:off x="365760" y="2093976"/>
            <a:ext cx="4023360" cy="557784"/>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3" name="Google Shape;273;p20"/>
          <p:cNvPicPr preferRelativeResize="0"/>
          <p:nvPr/>
        </p:nvPicPr>
        <p:blipFill rotWithShape="1">
          <a:blip r:embed="rId4">
            <a:alphaModFix/>
          </a:blip>
          <a:srcRect b="0" l="0" r="0" t="0"/>
          <a:stretch/>
        </p:blipFill>
        <p:spPr>
          <a:xfrm>
            <a:off x="512064" y="2167128"/>
            <a:ext cx="274320" cy="274320"/>
          </a:xfrm>
          <a:prstGeom prst="rect">
            <a:avLst/>
          </a:prstGeom>
          <a:noFill/>
          <a:ln>
            <a:noFill/>
          </a:ln>
        </p:spPr>
      </p:pic>
      <p:sp>
        <p:nvSpPr>
          <p:cNvPr id="274" name="Google Shape;274;p20"/>
          <p:cNvSpPr/>
          <p:nvPr/>
        </p:nvSpPr>
        <p:spPr>
          <a:xfrm>
            <a:off x="914400" y="2139696"/>
            <a:ext cx="33832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50"/>
              <a:buFont typeface="Calibri"/>
              <a:buNone/>
            </a:pPr>
            <a:r>
              <a:rPr b="0" i="0" lang="en" sz="1750" u="none" cap="none" strike="noStrike">
                <a:solidFill>
                  <a:srgbClr val="444444"/>
                </a:solidFill>
                <a:latin typeface="Calibri"/>
                <a:ea typeface="Calibri"/>
                <a:cs typeface="Calibri"/>
                <a:sym typeface="Calibri"/>
              </a:rPr>
              <a:t>AI risk classification (Low / Medium / High)</a:t>
            </a:r>
            <a:endParaRPr b="0" i="0" sz="1750" u="none" cap="none" strike="noStrike">
              <a:solidFill>
                <a:schemeClr val="dk1"/>
              </a:solidFill>
              <a:latin typeface="Calibri"/>
              <a:ea typeface="Calibri"/>
              <a:cs typeface="Calibri"/>
              <a:sym typeface="Calibri"/>
            </a:endParaRPr>
          </a:p>
        </p:txBody>
      </p:sp>
      <p:sp>
        <p:nvSpPr>
          <p:cNvPr id="275" name="Google Shape;275;p20"/>
          <p:cNvSpPr/>
          <p:nvPr/>
        </p:nvSpPr>
        <p:spPr>
          <a:xfrm>
            <a:off x="365760" y="2724912"/>
            <a:ext cx="4023360" cy="557784"/>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6" name="Google Shape;276;p20"/>
          <p:cNvPicPr preferRelativeResize="0"/>
          <p:nvPr/>
        </p:nvPicPr>
        <p:blipFill rotWithShape="1">
          <a:blip r:embed="rId5">
            <a:alphaModFix/>
          </a:blip>
          <a:srcRect b="0" l="0" r="0" t="0"/>
          <a:stretch/>
        </p:blipFill>
        <p:spPr>
          <a:xfrm>
            <a:off x="512064" y="2798064"/>
            <a:ext cx="274320" cy="274320"/>
          </a:xfrm>
          <a:prstGeom prst="rect">
            <a:avLst/>
          </a:prstGeom>
          <a:noFill/>
          <a:ln>
            <a:noFill/>
          </a:ln>
        </p:spPr>
      </p:pic>
      <p:sp>
        <p:nvSpPr>
          <p:cNvPr id="277" name="Google Shape;277;p20"/>
          <p:cNvSpPr/>
          <p:nvPr/>
        </p:nvSpPr>
        <p:spPr>
          <a:xfrm>
            <a:off x="914400" y="2770632"/>
            <a:ext cx="33832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50"/>
              <a:buFont typeface="Calibri"/>
              <a:buNone/>
            </a:pPr>
            <a:r>
              <a:rPr b="0" i="0" lang="en" sz="1750" u="none" cap="none" strike="noStrike">
                <a:solidFill>
                  <a:srgbClr val="444444"/>
                </a:solidFill>
                <a:latin typeface="Calibri"/>
                <a:ea typeface="Calibri"/>
                <a:cs typeface="Calibri"/>
                <a:sym typeface="Calibri"/>
              </a:rPr>
              <a:t>Smart AI email generation</a:t>
            </a:r>
            <a:endParaRPr b="0" i="0" sz="1750" u="none" cap="none" strike="noStrike">
              <a:solidFill>
                <a:schemeClr val="dk1"/>
              </a:solidFill>
              <a:latin typeface="Calibri"/>
              <a:ea typeface="Calibri"/>
              <a:cs typeface="Calibri"/>
              <a:sym typeface="Calibri"/>
            </a:endParaRPr>
          </a:p>
        </p:txBody>
      </p:sp>
      <p:sp>
        <p:nvSpPr>
          <p:cNvPr id="278" name="Google Shape;278;p20"/>
          <p:cNvSpPr/>
          <p:nvPr/>
        </p:nvSpPr>
        <p:spPr>
          <a:xfrm>
            <a:off x="365760" y="3355848"/>
            <a:ext cx="4023360" cy="557784"/>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9" name="Google Shape;279;p20"/>
          <p:cNvPicPr preferRelativeResize="0"/>
          <p:nvPr/>
        </p:nvPicPr>
        <p:blipFill rotWithShape="1">
          <a:blip r:embed="rId6">
            <a:alphaModFix/>
          </a:blip>
          <a:srcRect b="0" l="0" r="0" t="0"/>
          <a:stretch/>
        </p:blipFill>
        <p:spPr>
          <a:xfrm>
            <a:off x="512064" y="3429000"/>
            <a:ext cx="274320" cy="274320"/>
          </a:xfrm>
          <a:prstGeom prst="rect">
            <a:avLst/>
          </a:prstGeom>
          <a:noFill/>
          <a:ln>
            <a:noFill/>
          </a:ln>
        </p:spPr>
      </p:pic>
      <p:sp>
        <p:nvSpPr>
          <p:cNvPr id="280" name="Google Shape;280;p20"/>
          <p:cNvSpPr/>
          <p:nvPr/>
        </p:nvSpPr>
        <p:spPr>
          <a:xfrm>
            <a:off x="914400" y="3401568"/>
            <a:ext cx="33832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50"/>
              <a:buFont typeface="Calibri"/>
              <a:buNone/>
            </a:pPr>
            <a:r>
              <a:rPr b="0" i="0" lang="en" sz="1750" u="none" cap="none" strike="noStrike">
                <a:solidFill>
                  <a:srgbClr val="444444"/>
                </a:solidFill>
                <a:latin typeface="Calibri"/>
                <a:ea typeface="Calibri"/>
                <a:cs typeface="Calibri"/>
                <a:sym typeface="Calibri"/>
              </a:rPr>
              <a:t>Approval-based communication gate</a:t>
            </a:r>
            <a:endParaRPr b="0" i="0" sz="1750" u="none" cap="none" strike="noStrike">
              <a:solidFill>
                <a:schemeClr val="dk1"/>
              </a:solidFill>
              <a:latin typeface="Calibri"/>
              <a:ea typeface="Calibri"/>
              <a:cs typeface="Calibri"/>
              <a:sym typeface="Calibri"/>
            </a:endParaRPr>
          </a:p>
        </p:txBody>
      </p:sp>
      <p:sp>
        <p:nvSpPr>
          <p:cNvPr id="281" name="Google Shape;281;p20"/>
          <p:cNvSpPr/>
          <p:nvPr/>
        </p:nvSpPr>
        <p:spPr>
          <a:xfrm>
            <a:off x="365760" y="3986784"/>
            <a:ext cx="4023360" cy="557784"/>
          </a:xfrm>
          <a:prstGeom prst="rect">
            <a:avLst/>
          </a:prstGeom>
          <a:solidFill>
            <a:srgbClr val="FFFFFF"/>
          </a:solidFill>
          <a:ln cap="flat" cmpd="sng" w="12700">
            <a:solidFill>
              <a:srgbClr val="D0E8DC"/>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2" name="Google Shape;282;p20"/>
          <p:cNvPicPr preferRelativeResize="0"/>
          <p:nvPr/>
        </p:nvPicPr>
        <p:blipFill rotWithShape="1">
          <a:blip r:embed="rId7">
            <a:alphaModFix/>
          </a:blip>
          <a:srcRect b="0" l="0" r="0" t="0"/>
          <a:stretch/>
        </p:blipFill>
        <p:spPr>
          <a:xfrm>
            <a:off x="512064" y="4059936"/>
            <a:ext cx="274320" cy="274320"/>
          </a:xfrm>
          <a:prstGeom prst="rect">
            <a:avLst/>
          </a:prstGeom>
          <a:noFill/>
          <a:ln>
            <a:noFill/>
          </a:ln>
        </p:spPr>
      </p:pic>
      <p:sp>
        <p:nvSpPr>
          <p:cNvPr id="283" name="Google Shape;283;p20"/>
          <p:cNvSpPr/>
          <p:nvPr/>
        </p:nvSpPr>
        <p:spPr>
          <a:xfrm>
            <a:off x="914400" y="4032504"/>
            <a:ext cx="33832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50"/>
              <a:buFont typeface="Calibri"/>
              <a:buNone/>
            </a:pPr>
            <a:r>
              <a:rPr b="0" i="0" lang="en" sz="1750" u="none" cap="none" strike="noStrike">
                <a:solidFill>
                  <a:srgbClr val="444444"/>
                </a:solidFill>
                <a:latin typeface="Calibri"/>
                <a:ea typeface="Calibri"/>
                <a:cs typeface="Calibri"/>
                <a:sym typeface="Calibri"/>
              </a:rPr>
              <a:t>AI-powered error handling workflow</a:t>
            </a:r>
            <a:endParaRPr b="0" i="0" sz="1750" u="none" cap="none" strike="noStrike">
              <a:solidFill>
                <a:schemeClr val="dk1"/>
              </a:solidFill>
              <a:latin typeface="Calibri"/>
              <a:ea typeface="Calibri"/>
              <a:cs typeface="Calibri"/>
              <a:sym typeface="Calibri"/>
            </a:endParaRPr>
          </a:p>
        </p:txBody>
      </p:sp>
      <p:cxnSp>
        <p:nvCxnSpPr>
          <p:cNvPr id="284" name="Google Shape;284;p20"/>
          <p:cNvCxnSpPr/>
          <p:nvPr/>
        </p:nvCxnSpPr>
        <p:spPr>
          <a:xfrm>
            <a:off x="4617720" y="1097280"/>
            <a:ext cx="0" cy="3749040"/>
          </a:xfrm>
          <a:prstGeom prst="straightConnector1">
            <a:avLst/>
          </a:prstGeom>
          <a:noFill/>
          <a:ln cap="flat" cmpd="sng" w="12700">
            <a:solidFill>
              <a:srgbClr val="DDDDDD"/>
            </a:solidFill>
            <a:prstDash val="solid"/>
            <a:round/>
            <a:headEnd len="sm" w="sm" type="none"/>
            <a:tailEnd len="sm" w="sm" type="none"/>
          </a:ln>
        </p:spPr>
      </p:cxnSp>
      <p:sp>
        <p:nvSpPr>
          <p:cNvPr id="285" name="Google Shape;285;p20"/>
          <p:cNvSpPr/>
          <p:nvPr/>
        </p:nvSpPr>
        <p:spPr>
          <a:xfrm>
            <a:off x="4846320" y="1115568"/>
            <a:ext cx="4023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D3B"/>
              </a:buClr>
              <a:buSzPts val="1000"/>
              <a:buFont typeface="Calibri"/>
              <a:buNone/>
            </a:pPr>
            <a:r>
              <a:rPr b="1" i="0" lang="en" sz="1000" u="none" cap="none" strike="noStrike">
                <a:solidFill>
                  <a:srgbClr val="0B5D3B"/>
                </a:solidFill>
                <a:latin typeface="Calibri"/>
                <a:ea typeface="Calibri"/>
                <a:cs typeface="Calibri"/>
                <a:sym typeface="Calibri"/>
              </a:rPr>
              <a:t>BUSINESS BENEFITS</a:t>
            </a:r>
            <a:endParaRPr b="0" i="0" sz="1000" u="none" cap="none" strike="noStrike">
              <a:solidFill>
                <a:schemeClr val="dk1"/>
              </a:solidFill>
              <a:latin typeface="Calibri"/>
              <a:ea typeface="Calibri"/>
              <a:cs typeface="Calibri"/>
              <a:sym typeface="Calibri"/>
            </a:endParaRPr>
          </a:p>
        </p:txBody>
      </p:sp>
      <p:sp>
        <p:nvSpPr>
          <p:cNvPr id="286" name="Google Shape;286;p20"/>
          <p:cNvSpPr/>
          <p:nvPr/>
        </p:nvSpPr>
        <p:spPr>
          <a:xfrm>
            <a:off x="4846320" y="1463040"/>
            <a:ext cx="1901952" cy="1261872"/>
          </a:xfrm>
          <a:prstGeom prst="rect">
            <a:avLst/>
          </a:prstGeom>
          <a:solidFill>
            <a:srgbClr val="0B5D3B"/>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a:off x="4919472" y="1627632"/>
            <a:ext cx="1755648"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0" lang="en" sz="2400" u="none" cap="none" strike="noStrike">
                <a:solidFill>
                  <a:srgbClr val="FFFFFF"/>
                </a:solidFill>
                <a:latin typeface="Calibri"/>
                <a:ea typeface="Calibri"/>
                <a:cs typeface="Calibri"/>
                <a:sym typeface="Calibri"/>
              </a:rPr>
              <a:t>↓ 80%</a:t>
            </a:r>
            <a:endParaRPr b="0" i="0" sz="2400" u="none" cap="none" strike="noStrike">
              <a:solidFill>
                <a:schemeClr val="dk1"/>
              </a:solidFill>
              <a:latin typeface="Calibri"/>
              <a:ea typeface="Calibri"/>
              <a:cs typeface="Calibri"/>
              <a:sym typeface="Calibri"/>
            </a:endParaRPr>
          </a:p>
        </p:txBody>
      </p:sp>
      <p:sp>
        <p:nvSpPr>
          <p:cNvPr id="288" name="Google Shape;288;p20"/>
          <p:cNvSpPr/>
          <p:nvPr/>
        </p:nvSpPr>
        <p:spPr>
          <a:xfrm>
            <a:off x="4901184" y="2148840"/>
            <a:ext cx="1792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0F0E0"/>
              </a:buClr>
              <a:buSzPts val="1000"/>
              <a:buFont typeface="Calibri"/>
              <a:buNone/>
            </a:pPr>
            <a:r>
              <a:rPr b="0" i="0" lang="en" u="none" cap="none" strike="noStrike">
                <a:solidFill>
                  <a:srgbClr val="D0F0E0"/>
                </a:solidFill>
                <a:latin typeface="Calibri"/>
                <a:ea typeface="Calibri"/>
                <a:cs typeface="Calibri"/>
                <a:sym typeface="Calibri"/>
              </a:rPr>
              <a:t>Reduction in manual follow-up time</a:t>
            </a:r>
            <a:endParaRPr b="0" i="0" u="none" cap="none" strike="noStrike">
              <a:solidFill>
                <a:schemeClr val="dk1"/>
              </a:solidFill>
              <a:latin typeface="Calibri"/>
              <a:ea typeface="Calibri"/>
              <a:cs typeface="Calibri"/>
              <a:sym typeface="Calibri"/>
            </a:endParaRPr>
          </a:p>
        </p:txBody>
      </p:sp>
      <p:sp>
        <p:nvSpPr>
          <p:cNvPr id="289" name="Google Shape;289;p20"/>
          <p:cNvSpPr/>
          <p:nvPr/>
        </p:nvSpPr>
        <p:spPr>
          <a:xfrm>
            <a:off x="6931152" y="1463040"/>
            <a:ext cx="1901952" cy="1261872"/>
          </a:xfrm>
          <a:prstGeom prst="rect">
            <a:avLst/>
          </a:prstGeom>
          <a:solidFill>
            <a:srgbClr val="F4A300"/>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
          <p:cNvSpPr/>
          <p:nvPr/>
        </p:nvSpPr>
        <p:spPr>
          <a:xfrm>
            <a:off x="7004304" y="1627632"/>
            <a:ext cx="1755648"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0" lang="en" sz="2400" u="none" cap="none" strike="noStrike">
                <a:solidFill>
                  <a:srgbClr val="FFFFFF"/>
                </a:solidFill>
                <a:latin typeface="Calibri"/>
                <a:ea typeface="Calibri"/>
                <a:cs typeface="Calibri"/>
                <a:sym typeface="Calibri"/>
              </a:rPr>
              <a:t>10x</a:t>
            </a:r>
            <a:endParaRPr b="0" i="0" sz="2400" u="none" cap="none" strike="noStrike">
              <a:solidFill>
                <a:schemeClr val="dk1"/>
              </a:solidFill>
              <a:latin typeface="Calibri"/>
              <a:ea typeface="Calibri"/>
              <a:cs typeface="Calibri"/>
              <a:sym typeface="Calibri"/>
            </a:endParaRPr>
          </a:p>
        </p:txBody>
      </p:sp>
      <p:sp>
        <p:nvSpPr>
          <p:cNvPr id="291" name="Google Shape;291;p20"/>
          <p:cNvSpPr/>
          <p:nvPr/>
        </p:nvSpPr>
        <p:spPr>
          <a:xfrm>
            <a:off x="6986016" y="2148840"/>
            <a:ext cx="1792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0F0E0"/>
              </a:buClr>
              <a:buSzPts val="1000"/>
              <a:buFont typeface="Calibri"/>
              <a:buNone/>
            </a:pPr>
            <a:r>
              <a:rPr b="0" i="0" lang="en" u="none" cap="none" strike="noStrike">
                <a:solidFill>
                  <a:srgbClr val="D0F0E0"/>
                </a:solidFill>
                <a:latin typeface="Calibri"/>
                <a:ea typeface="Calibri"/>
                <a:cs typeface="Calibri"/>
                <a:sym typeface="Calibri"/>
              </a:rPr>
              <a:t>Faster client document reminders</a:t>
            </a:r>
            <a:endParaRPr b="0" i="0" u="none" cap="none" strike="noStrike">
              <a:solidFill>
                <a:schemeClr val="dk1"/>
              </a:solidFill>
              <a:latin typeface="Calibri"/>
              <a:ea typeface="Calibri"/>
              <a:cs typeface="Calibri"/>
              <a:sym typeface="Calibri"/>
            </a:endParaRPr>
          </a:p>
        </p:txBody>
      </p:sp>
      <p:sp>
        <p:nvSpPr>
          <p:cNvPr id="292" name="Google Shape;292;p20"/>
          <p:cNvSpPr/>
          <p:nvPr/>
        </p:nvSpPr>
        <p:spPr>
          <a:xfrm>
            <a:off x="4846320" y="2852928"/>
            <a:ext cx="1901952" cy="1261872"/>
          </a:xfrm>
          <a:prstGeom prst="rect">
            <a:avLst/>
          </a:prstGeom>
          <a:solidFill>
            <a:srgbClr val="E8F5EE"/>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0"/>
          <p:cNvSpPr/>
          <p:nvPr/>
        </p:nvSpPr>
        <p:spPr>
          <a:xfrm>
            <a:off x="4919472" y="3017520"/>
            <a:ext cx="1755648"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2400"/>
              <a:buFont typeface="Calibri"/>
              <a:buNone/>
            </a:pPr>
            <a:r>
              <a:rPr b="1" i="0" lang="en" sz="2400" u="none" cap="none" strike="noStrike">
                <a:solidFill>
                  <a:srgbClr val="0B5D3B"/>
                </a:solidFill>
                <a:latin typeface="Calibri"/>
                <a:ea typeface="Calibri"/>
                <a:cs typeface="Calibri"/>
                <a:sym typeface="Calibri"/>
              </a:rPr>
              <a:t>3 Levels</a:t>
            </a:r>
            <a:endParaRPr b="0" i="0" sz="2400" u="none" cap="none" strike="noStrike">
              <a:solidFill>
                <a:schemeClr val="dk1"/>
              </a:solidFill>
              <a:latin typeface="Calibri"/>
              <a:ea typeface="Calibri"/>
              <a:cs typeface="Calibri"/>
              <a:sym typeface="Calibri"/>
            </a:endParaRPr>
          </a:p>
        </p:txBody>
      </p:sp>
      <p:sp>
        <p:nvSpPr>
          <p:cNvPr id="294" name="Google Shape;294;p20"/>
          <p:cNvSpPr/>
          <p:nvPr/>
        </p:nvSpPr>
        <p:spPr>
          <a:xfrm>
            <a:off x="4901184" y="3538728"/>
            <a:ext cx="1792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1000"/>
              <a:buFont typeface="Calibri"/>
              <a:buNone/>
            </a:pPr>
            <a:r>
              <a:rPr b="0" i="0" lang="en" u="none" cap="none" strike="noStrike">
                <a:solidFill>
                  <a:srgbClr val="444444"/>
                </a:solidFill>
                <a:latin typeface="Calibri"/>
                <a:ea typeface="Calibri"/>
                <a:cs typeface="Calibri"/>
                <a:sym typeface="Calibri"/>
              </a:rPr>
              <a:t>Consistent AI risk classification</a:t>
            </a:r>
            <a:endParaRPr b="0" i="0" u="none" cap="none" strike="noStrike">
              <a:solidFill>
                <a:schemeClr val="dk1"/>
              </a:solidFill>
              <a:latin typeface="Calibri"/>
              <a:ea typeface="Calibri"/>
              <a:cs typeface="Calibri"/>
              <a:sym typeface="Calibri"/>
            </a:endParaRPr>
          </a:p>
        </p:txBody>
      </p:sp>
      <p:sp>
        <p:nvSpPr>
          <p:cNvPr id="295" name="Google Shape;295;p20"/>
          <p:cNvSpPr/>
          <p:nvPr/>
        </p:nvSpPr>
        <p:spPr>
          <a:xfrm>
            <a:off x="6931152" y="2852928"/>
            <a:ext cx="1901952" cy="1261872"/>
          </a:xfrm>
          <a:prstGeom prst="rect">
            <a:avLst/>
          </a:prstGeom>
          <a:solidFill>
            <a:srgbClr val="E8F5EE"/>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0"/>
          <p:cNvSpPr/>
          <p:nvPr/>
        </p:nvSpPr>
        <p:spPr>
          <a:xfrm>
            <a:off x="7004304" y="3017520"/>
            <a:ext cx="1755648"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D3B"/>
              </a:buClr>
              <a:buSzPts val="2400"/>
              <a:buFont typeface="Calibri"/>
              <a:buNone/>
            </a:pPr>
            <a:r>
              <a:rPr b="1" i="0" lang="en" sz="2400" u="none" cap="none" strike="noStrike">
                <a:solidFill>
                  <a:srgbClr val="0B5D3B"/>
                </a:solidFill>
                <a:latin typeface="Calibri"/>
                <a:ea typeface="Calibri"/>
                <a:cs typeface="Calibri"/>
                <a:sym typeface="Calibri"/>
              </a:rPr>
              <a:t>100%</a:t>
            </a:r>
            <a:endParaRPr b="0" i="0" sz="2400" u="none" cap="none" strike="noStrike">
              <a:solidFill>
                <a:schemeClr val="dk1"/>
              </a:solidFill>
              <a:latin typeface="Calibri"/>
              <a:ea typeface="Calibri"/>
              <a:cs typeface="Calibri"/>
              <a:sym typeface="Calibri"/>
            </a:endParaRPr>
          </a:p>
        </p:txBody>
      </p:sp>
      <p:sp>
        <p:nvSpPr>
          <p:cNvPr id="297" name="Google Shape;297;p20"/>
          <p:cNvSpPr/>
          <p:nvPr/>
        </p:nvSpPr>
        <p:spPr>
          <a:xfrm>
            <a:off x="6986016" y="3538728"/>
            <a:ext cx="1792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44444"/>
              </a:buClr>
              <a:buSzPts val="1000"/>
              <a:buFont typeface="Calibri"/>
              <a:buNone/>
            </a:pPr>
            <a:r>
              <a:rPr b="0" i="0" lang="en" u="none" cap="none" strike="noStrike">
                <a:solidFill>
                  <a:srgbClr val="444444"/>
                </a:solidFill>
                <a:latin typeface="Calibri"/>
                <a:ea typeface="Calibri"/>
                <a:cs typeface="Calibri"/>
                <a:sym typeface="Calibri"/>
              </a:rPr>
              <a:t>Human oversight before client emails</a:t>
            </a:r>
            <a:endParaRPr b="0" i="0" u="none" cap="none" strike="noStrike">
              <a:solidFill>
                <a:schemeClr val="dk1"/>
              </a:solidFill>
              <a:latin typeface="Calibri"/>
              <a:ea typeface="Calibri"/>
              <a:cs typeface="Calibri"/>
              <a:sym typeface="Calibri"/>
            </a:endParaRPr>
          </a:p>
        </p:txBody>
      </p:sp>
      <p:pic>
        <p:nvPicPr>
          <p:cNvPr id="298" name="Google Shape;298;p20"/>
          <p:cNvPicPr preferRelativeResize="0"/>
          <p:nvPr/>
        </p:nvPicPr>
        <p:blipFill rotWithShape="1">
          <a:blip r:embed="rId8">
            <a:alphaModFix/>
          </a:blip>
          <a:srcRect b="0" l="0" r="0" t="0"/>
          <a:stretch/>
        </p:blipFill>
        <p:spPr>
          <a:xfrm>
            <a:off x="4846320" y="4187952"/>
            <a:ext cx="4023360" cy="80467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D27"/>
        </a:solidFill>
      </p:bgPr>
    </p:bg>
    <p:spTree>
      <p:nvGrpSpPr>
        <p:cNvPr id="303" name="Shape 303"/>
        <p:cNvGrpSpPr/>
        <p:nvPr/>
      </p:nvGrpSpPr>
      <p:grpSpPr>
        <a:xfrm>
          <a:off x="0" y="0"/>
          <a:ext cx="0" cy="0"/>
          <a:chOff x="0" y="0"/>
          <a:chExt cx="0" cy="0"/>
        </a:xfrm>
      </p:grpSpPr>
      <p:sp>
        <p:nvSpPr>
          <p:cNvPr id="304" name="Google Shape;304;p21"/>
          <p:cNvSpPr/>
          <p:nvPr/>
        </p:nvSpPr>
        <p:spPr>
          <a:xfrm>
            <a:off x="6583680" y="0"/>
            <a:ext cx="2560320" cy="5143500"/>
          </a:xfrm>
          <a:prstGeom prst="rect">
            <a:avLst/>
          </a:prstGeom>
          <a:solidFill>
            <a:srgbClr val="0A5234"/>
          </a:solidFill>
          <a:ln cap="flat" cmpd="sng" w="12700">
            <a:solidFill>
              <a:srgbClr val="0A52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p:nvPr/>
        </p:nvSpPr>
        <p:spPr>
          <a:xfrm>
            <a:off x="457200" y="1828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900"/>
              <a:buFont typeface="Calibri"/>
              <a:buNone/>
            </a:pPr>
            <a:r>
              <a:rPr b="1" i="0" lang="en" sz="2000" u="none" cap="none" strike="noStrike">
                <a:solidFill>
                  <a:srgbClr val="F4A300"/>
                </a:solidFill>
                <a:latin typeface="Calibri"/>
                <a:ea typeface="Calibri"/>
                <a:cs typeface="Calibri"/>
                <a:sym typeface="Calibri"/>
              </a:rPr>
              <a:t>CONCLUSION</a:t>
            </a:r>
            <a:endParaRPr b="0" i="0" sz="2000" u="none" cap="none" strike="noStrike">
              <a:solidFill>
                <a:schemeClr val="dk1"/>
              </a:solidFill>
              <a:latin typeface="Calibri"/>
              <a:ea typeface="Calibri"/>
              <a:cs typeface="Calibri"/>
              <a:sym typeface="Calibri"/>
            </a:endParaRPr>
          </a:p>
        </p:txBody>
      </p:sp>
      <p:sp>
        <p:nvSpPr>
          <p:cNvPr id="306" name="Google Shape;306;p21"/>
          <p:cNvSpPr/>
          <p:nvPr/>
        </p:nvSpPr>
        <p:spPr>
          <a:xfrm>
            <a:off x="143350" y="495350"/>
            <a:ext cx="5943600" cy="1013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 sz="4000" u="none" cap="none" strike="noStrike">
                <a:solidFill>
                  <a:srgbClr val="FFFFFF"/>
                </a:solidFill>
                <a:latin typeface="Calibri"/>
                <a:ea typeface="Calibri"/>
                <a:cs typeface="Calibri"/>
                <a:sym typeface="Calibri"/>
              </a:rPr>
              <a:t>Conclusion &amp;</a:t>
            </a:r>
            <a:r>
              <a:rPr lang="en" sz="4000">
                <a:solidFill>
                  <a:schemeClr val="dk1"/>
                </a:solidFill>
                <a:latin typeface="Calibri"/>
                <a:ea typeface="Calibri"/>
                <a:cs typeface="Calibri"/>
                <a:sym typeface="Calibri"/>
              </a:rPr>
              <a:t> </a:t>
            </a:r>
            <a:r>
              <a:rPr b="1" i="0" lang="en" sz="4000" u="none" cap="none" strike="noStrike">
                <a:solidFill>
                  <a:srgbClr val="FFFFFF"/>
                </a:solidFill>
                <a:latin typeface="Calibri"/>
                <a:ea typeface="Calibri"/>
                <a:cs typeface="Calibri"/>
                <a:sym typeface="Calibri"/>
              </a:rPr>
              <a:t>Future Vision</a:t>
            </a:r>
            <a:endParaRPr b="0" i="0" sz="4000" u="none" cap="none" strike="noStrike">
              <a:solidFill>
                <a:schemeClr val="dk1"/>
              </a:solidFill>
              <a:latin typeface="Calibri"/>
              <a:ea typeface="Calibri"/>
              <a:cs typeface="Calibri"/>
              <a:sym typeface="Calibri"/>
            </a:endParaRPr>
          </a:p>
        </p:txBody>
      </p:sp>
      <p:sp>
        <p:nvSpPr>
          <p:cNvPr id="307" name="Google Shape;307;p21"/>
          <p:cNvSpPr/>
          <p:nvPr/>
        </p:nvSpPr>
        <p:spPr>
          <a:xfrm>
            <a:off x="228600" y="1240638"/>
            <a:ext cx="5943600" cy="117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1300"/>
              <a:buFont typeface="Calibri"/>
              <a:buNone/>
            </a:pPr>
            <a:r>
              <a:rPr b="0" i="0" lang="en" sz="1900" u="none" cap="none" strike="noStrike">
                <a:solidFill>
                  <a:srgbClr val="A8D5B5"/>
                </a:solidFill>
                <a:latin typeface="Calibri"/>
                <a:ea typeface="Calibri"/>
                <a:cs typeface="Calibri"/>
                <a:sym typeface="Calibri"/>
              </a:rPr>
              <a:t>The system demonstrates how AI and workflow automation can transform audit operations</a:t>
            </a:r>
            <a:r>
              <a:rPr lang="en" sz="1900">
                <a:solidFill>
                  <a:srgbClr val="A8D5B5"/>
                </a:solidFill>
                <a:latin typeface="Calibri"/>
                <a:ea typeface="Calibri"/>
                <a:cs typeface="Calibri"/>
                <a:sym typeface="Calibri"/>
              </a:rPr>
              <a:t>, reducing</a:t>
            </a:r>
            <a:r>
              <a:rPr b="0" i="0" lang="en" sz="1900" u="none" cap="none" strike="noStrike">
                <a:solidFill>
                  <a:srgbClr val="A8D5B5"/>
                </a:solidFill>
                <a:latin typeface="Calibri"/>
                <a:ea typeface="Calibri"/>
                <a:cs typeface="Calibri"/>
                <a:sym typeface="Calibri"/>
              </a:rPr>
              <a:t> manual work and enabling proactive risk management.</a:t>
            </a:r>
            <a:endParaRPr b="0" i="0" sz="1900" u="none" cap="none" strike="noStrike">
              <a:solidFill>
                <a:schemeClr val="dk1"/>
              </a:solidFill>
              <a:latin typeface="Calibri"/>
              <a:ea typeface="Calibri"/>
              <a:cs typeface="Calibri"/>
              <a:sym typeface="Calibri"/>
            </a:endParaRPr>
          </a:p>
        </p:txBody>
      </p:sp>
      <p:sp>
        <p:nvSpPr>
          <p:cNvPr id="308" name="Google Shape;308;p21"/>
          <p:cNvSpPr/>
          <p:nvPr/>
        </p:nvSpPr>
        <p:spPr>
          <a:xfrm>
            <a:off x="457200" y="2304288"/>
            <a:ext cx="5852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1000"/>
              <a:buFont typeface="Calibri"/>
              <a:buNone/>
            </a:pPr>
            <a:r>
              <a:rPr b="1" i="0" lang="en" sz="1800" u="none" cap="none" strike="noStrike">
                <a:solidFill>
                  <a:srgbClr val="F4A300"/>
                </a:solidFill>
                <a:latin typeface="Calibri"/>
                <a:ea typeface="Calibri"/>
                <a:cs typeface="Calibri"/>
                <a:sym typeface="Calibri"/>
              </a:rPr>
              <a:t>FUTURE ENHANCEMENTS</a:t>
            </a:r>
            <a:endParaRPr b="0" i="0" sz="1800" u="none" cap="none" strike="noStrike">
              <a:solidFill>
                <a:schemeClr val="dk1"/>
              </a:solidFill>
              <a:latin typeface="Calibri"/>
              <a:ea typeface="Calibri"/>
              <a:cs typeface="Calibri"/>
              <a:sym typeface="Calibri"/>
            </a:endParaRPr>
          </a:p>
        </p:txBody>
      </p:sp>
      <p:sp>
        <p:nvSpPr>
          <p:cNvPr id="309" name="Google Shape;309;p21"/>
          <p:cNvSpPr/>
          <p:nvPr/>
        </p:nvSpPr>
        <p:spPr>
          <a:xfrm>
            <a:off x="457200" y="2633472"/>
            <a:ext cx="5852160" cy="347472"/>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0" name="Google Shape;310;p21"/>
          <p:cNvPicPr preferRelativeResize="0"/>
          <p:nvPr/>
        </p:nvPicPr>
        <p:blipFill rotWithShape="1">
          <a:blip r:embed="rId3">
            <a:alphaModFix/>
          </a:blip>
          <a:srcRect b="0" l="0" r="0" t="0"/>
          <a:stretch/>
        </p:blipFill>
        <p:spPr>
          <a:xfrm>
            <a:off x="566928" y="2660904"/>
            <a:ext cx="256032" cy="256032"/>
          </a:xfrm>
          <a:prstGeom prst="rect">
            <a:avLst/>
          </a:prstGeom>
          <a:noFill/>
          <a:ln>
            <a:noFill/>
          </a:ln>
        </p:spPr>
      </p:pic>
      <p:sp>
        <p:nvSpPr>
          <p:cNvPr id="311" name="Google Shape;311;p21"/>
          <p:cNvSpPr/>
          <p:nvPr/>
        </p:nvSpPr>
        <p:spPr>
          <a:xfrm>
            <a:off x="960120" y="2633472"/>
            <a:ext cx="5212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 sz="1800" u="none" cap="none" strike="noStrike">
                <a:solidFill>
                  <a:srgbClr val="FFFFFF"/>
                </a:solidFill>
                <a:latin typeface="Calibri"/>
                <a:ea typeface="Calibri"/>
                <a:cs typeface="Calibri"/>
                <a:sym typeface="Calibri"/>
              </a:rPr>
              <a:t>Real-time analytics dashboard</a:t>
            </a:r>
            <a:endParaRPr b="0" i="0" sz="1800" u="none" cap="none" strike="noStrike">
              <a:solidFill>
                <a:schemeClr val="dk1"/>
              </a:solidFill>
              <a:latin typeface="Calibri"/>
              <a:ea typeface="Calibri"/>
              <a:cs typeface="Calibri"/>
              <a:sym typeface="Calibri"/>
            </a:endParaRPr>
          </a:p>
        </p:txBody>
      </p:sp>
      <p:sp>
        <p:nvSpPr>
          <p:cNvPr id="312" name="Google Shape;312;p21"/>
          <p:cNvSpPr/>
          <p:nvPr/>
        </p:nvSpPr>
        <p:spPr>
          <a:xfrm>
            <a:off x="457200" y="3035808"/>
            <a:ext cx="5852160" cy="347472"/>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21"/>
          <p:cNvPicPr preferRelativeResize="0"/>
          <p:nvPr/>
        </p:nvPicPr>
        <p:blipFill rotWithShape="1">
          <a:blip r:embed="rId4">
            <a:alphaModFix/>
          </a:blip>
          <a:srcRect b="0" l="0" r="0" t="0"/>
          <a:stretch/>
        </p:blipFill>
        <p:spPr>
          <a:xfrm>
            <a:off x="566928" y="3063240"/>
            <a:ext cx="256032" cy="256032"/>
          </a:xfrm>
          <a:prstGeom prst="rect">
            <a:avLst/>
          </a:prstGeom>
          <a:noFill/>
          <a:ln>
            <a:noFill/>
          </a:ln>
        </p:spPr>
      </p:pic>
      <p:sp>
        <p:nvSpPr>
          <p:cNvPr id="314" name="Google Shape;314;p21"/>
          <p:cNvSpPr/>
          <p:nvPr/>
        </p:nvSpPr>
        <p:spPr>
          <a:xfrm>
            <a:off x="960120" y="3035808"/>
            <a:ext cx="5212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 sz="1800" u="none" cap="none" strike="noStrike">
                <a:solidFill>
                  <a:srgbClr val="FFFFFF"/>
                </a:solidFill>
                <a:latin typeface="Calibri"/>
                <a:ea typeface="Calibri"/>
                <a:cs typeface="Calibri"/>
                <a:sym typeface="Calibri"/>
              </a:rPr>
              <a:t>WhatsApp Business notifications</a:t>
            </a:r>
            <a:endParaRPr b="0" i="0" sz="1800" u="none" cap="none" strike="noStrike">
              <a:solidFill>
                <a:schemeClr val="dk1"/>
              </a:solidFill>
              <a:latin typeface="Calibri"/>
              <a:ea typeface="Calibri"/>
              <a:cs typeface="Calibri"/>
              <a:sym typeface="Calibri"/>
            </a:endParaRPr>
          </a:p>
        </p:txBody>
      </p:sp>
      <p:sp>
        <p:nvSpPr>
          <p:cNvPr id="315" name="Google Shape;315;p21"/>
          <p:cNvSpPr/>
          <p:nvPr/>
        </p:nvSpPr>
        <p:spPr>
          <a:xfrm>
            <a:off x="457200" y="3438144"/>
            <a:ext cx="5852160" cy="347472"/>
          </a:xfrm>
          <a:prstGeom prst="rect">
            <a:avLst/>
          </a:prstGeom>
          <a:solidFill>
            <a:srgbClr val="0D6B43"/>
          </a:solidFill>
          <a:ln cap="flat" cmpd="sng" w="12700">
            <a:solidFill>
              <a:srgbClr val="1A8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6" name="Google Shape;316;p21"/>
          <p:cNvPicPr preferRelativeResize="0"/>
          <p:nvPr/>
        </p:nvPicPr>
        <p:blipFill rotWithShape="1">
          <a:blip r:embed="rId5">
            <a:alphaModFix/>
          </a:blip>
          <a:srcRect b="0" l="0" r="0" t="0"/>
          <a:stretch/>
        </p:blipFill>
        <p:spPr>
          <a:xfrm>
            <a:off x="566928" y="3465576"/>
            <a:ext cx="256032" cy="256032"/>
          </a:xfrm>
          <a:prstGeom prst="rect">
            <a:avLst/>
          </a:prstGeom>
          <a:noFill/>
          <a:ln>
            <a:noFill/>
          </a:ln>
        </p:spPr>
      </p:pic>
      <p:sp>
        <p:nvSpPr>
          <p:cNvPr id="317" name="Google Shape;317;p21"/>
          <p:cNvSpPr/>
          <p:nvPr/>
        </p:nvSpPr>
        <p:spPr>
          <a:xfrm>
            <a:off x="960120" y="3438144"/>
            <a:ext cx="5212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 sz="1800" u="none" cap="none" strike="noStrike">
                <a:solidFill>
                  <a:srgbClr val="FFFFFF"/>
                </a:solidFill>
                <a:latin typeface="Calibri"/>
                <a:ea typeface="Calibri"/>
                <a:cs typeface="Calibri"/>
                <a:sym typeface="Calibri"/>
              </a:rPr>
              <a:t>Predictive delay forecasting</a:t>
            </a:r>
            <a:endParaRPr b="0" i="0" sz="1800" u="none" cap="none" strike="noStrike">
              <a:solidFill>
                <a:schemeClr val="dk1"/>
              </a:solidFill>
              <a:latin typeface="Calibri"/>
              <a:ea typeface="Calibri"/>
              <a:cs typeface="Calibri"/>
              <a:sym typeface="Calibri"/>
            </a:endParaRPr>
          </a:p>
        </p:txBody>
      </p:sp>
      <p:sp>
        <p:nvSpPr>
          <p:cNvPr id="318" name="Google Shape;318;p21"/>
          <p:cNvSpPr/>
          <p:nvPr/>
        </p:nvSpPr>
        <p:spPr>
          <a:xfrm>
            <a:off x="960120" y="4242816"/>
            <a:ext cx="52120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t/>
            </a:r>
            <a:endParaRPr b="0" i="0" sz="1600" u="none" cap="none" strike="noStrike">
              <a:solidFill>
                <a:schemeClr val="dk1"/>
              </a:solidFill>
              <a:latin typeface="Calibri"/>
              <a:ea typeface="Calibri"/>
              <a:cs typeface="Calibri"/>
              <a:sym typeface="Calibri"/>
            </a:endParaRPr>
          </a:p>
        </p:txBody>
      </p:sp>
      <p:sp>
        <p:nvSpPr>
          <p:cNvPr id="319" name="Google Shape;319;p21"/>
          <p:cNvSpPr/>
          <p:nvPr/>
        </p:nvSpPr>
        <p:spPr>
          <a:xfrm>
            <a:off x="457200" y="4370815"/>
            <a:ext cx="5852100" cy="640200"/>
          </a:xfrm>
          <a:prstGeom prst="rect">
            <a:avLst/>
          </a:prstGeom>
          <a:solidFill>
            <a:srgbClr val="F4A300"/>
          </a:solidFill>
          <a:ln cap="flat" cmpd="sng" w="127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1"/>
          <p:cNvSpPr/>
          <p:nvPr/>
        </p:nvSpPr>
        <p:spPr>
          <a:xfrm>
            <a:off x="457225" y="4425715"/>
            <a:ext cx="58521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73D27"/>
              </a:buClr>
              <a:buSzPts val="1400"/>
              <a:buFont typeface="Calibri"/>
              <a:buNone/>
            </a:pPr>
            <a:r>
              <a:rPr b="1" i="1" lang="en" sz="2100" u="none" cap="none" strike="noStrike">
                <a:solidFill>
                  <a:srgbClr val="073D27"/>
                </a:solidFill>
                <a:latin typeface="Calibri"/>
                <a:ea typeface="Calibri"/>
                <a:cs typeface="Calibri"/>
                <a:sym typeface="Calibri"/>
              </a:rPr>
              <a:t>"Smarter Audits Through AI Automation"</a:t>
            </a:r>
            <a:endParaRPr b="0" i="0" sz="2100" u="none" cap="none" strike="noStrike">
              <a:solidFill>
                <a:schemeClr val="dk1"/>
              </a:solidFill>
              <a:latin typeface="Calibri"/>
              <a:ea typeface="Calibri"/>
              <a:cs typeface="Calibri"/>
              <a:sym typeface="Calibri"/>
            </a:endParaRPr>
          </a:p>
        </p:txBody>
      </p:sp>
      <p:sp>
        <p:nvSpPr>
          <p:cNvPr id="321" name="Google Shape;321;p21"/>
          <p:cNvSpPr/>
          <p:nvPr/>
        </p:nvSpPr>
        <p:spPr>
          <a:xfrm>
            <a:off x="6675120" y="731520"/>
            <a:ext cx="2194560" cy="2194560"/>
          </a:xfrm>
          <a:prstGeom prst="ellipse">
            <a:avLst/>
          </a:prstGeom>
          <a:solidFill>
            <a:srgbClr val="0B5D3B"/>
          </a:solidFill>
          <a:ln cap="flat" cmpd="sng" w="25400">
            <a:solidFill>
              <a:srgbClr val="F4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1"/>
          <p:cNvSpPr/>
          <p:nvPr/>
        </p:nvSpPr>
        <p:spPr>
          <a:xfrm>
            <a:off x="6675120" y="822960"/>
            <a:ext cx="2194560" cy="201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Thank</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You</a:t>
            </a:r>
            <a:endParaRPr b="0" i="0" sz="2600" u="none" cap="none" strike="noStrike">
              <a:solidFill>
                <a:schemeClr val="dk1"/>
              </a:solidFill>
              <a:latin typeface="Calibri"/>
              <a:ea typeface="Calibri"/>
              <a:cs typeface="Calibri"/>
              <a:sym typeface="Calibri"/>
            </a:endParaRPr>
          </a:p>
        </p:txBody>
      </p:sp>
      <p:sp>
        <p:nvSpPr>
          <p:cNvPr id="323" name="Google Shape;323;p21"/>
          <p:cNvSpPr/>
          <p:nvPr/>
        </p:nvSpPr>
        <p:spPr>
          <a:xfrm>
            <a:off x="6583680" y="3154680"/>
            <a:ext cx="24688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300"/>
              </a:buClr>
              <a:buSzPts val="1500"/>
              <a:buFont typeface="Calibri"/>
              <a:buNone/>
            </a:pPr>
            <a:r>
              <a:rPr b="1" i="0" lang="en" sz="1500" u="none" cap="none" strike="noStrike">
                <a:solidFill>
                  <a:srgbClr val="F4A300"/>
                </a:solidFill>
                <a:latin typeface="Calibri"/>
                <a:ea typeface="Calibri"/>
                <a:cs typeface="Calibri"/>
                <a:sym typeface="Calibri"/>
              </a:rPr>
              <a:t>Questions &amp;</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4A300"/>
              </a:buClr>
              <a:buSzPts val="1500"/>
              <a:buFont typeface="Calibri"/>
              <a:buNone/>
            </a:pPr>
            <a:r>
              <a:rPr b="1" i="0" lang="en" sz="1500" u="none" cap="none" strike="noStrike">
                <a:solidFill>
                  <a:srgbClr val="F4A300"/>
                </a:solidFill>
                <a:latin typeface="Calibri"/>
                <a:ea typeface="Calibri"/>
                <a:cs typeface="Calibri"/>
                <a:sym typeface="Calibri"/>
              </a:rPr>
              <a:t>Discussion</a:t>
            </a:r>
            <a:endParaRPr b="0" i="0" sz="1500" u="none" cap="none" strike="noStrike">
              <a:solidFill>
                <a:schemeClr val="dk1"/>
              </a:solidFill>
              <a:latin typeface="Calibri"/>
              <a:ea typeface="Calibri"/>
              <a:cs typeface="Calibri"/>
              <a:sym typeface="Calibri"/>
            </a:endParaRPr>
          </a:p>
        </p:txBody>
      </p:sp>
      <p:sp>
        <p:nvSpPr>
          <p:cNvPr id="324" name="Google Shape;324;p21"/>
          <p:cNvSpPr/>
          <p:nvPr/>
        </p:nvSpPr>
        <p:spPr>
          <a:xfrm>
            <a:off x="6711696" y="3904488"/>
            <a:ext cx="512064" cy="512064"/>
          </a:xfrm>
          <a:prstGeom prst="ellipse">
            <a:avLst/>
          </a:prstGeom>
          <a:solidFill>
            <a:srgbClr val="0D6B43"/>
          </a:solidFill>
          <a:ln cap="flat" cmpd="sng" w="12700">
            <a:solidFill>
              <a:srgbClr val="0D6B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5" name="Google Shape;325;p21"/>
          <p:cNvPicPr preferRelativeResize="0"/>
          <p:nvPr/>
        </p:nvPicPr>
        <p:blipFill rotWithShape="1">
          <a:blip r:embed="rId6">
            <a:alphaModFix/>
          </a:blip>
          <a:srcRect b="0" l="0" r="0" t="0"/>
          <a:stretch/>
        </p:blipFill>
        <p:spPr>
          <a:xfrm>
            <a:off x="6801307" y="3994099"/>
            <a:ext cx="332842" cy="332842"/>
          </a:xfrm>
          <a:prstGeom prst="rect">
            <a:avLst/>
          </a:prstGeom>
          <a:noFill/>
          <a:ln>
            <a:noFill/>
          </a:ln>
        </p:spPr>
      </p:pic>
      <p:sp>
        <p:nvSpPr>
          <p:cNvPr id="326" name="Google Shape;326;p21"/>
          <p:cNvSpPr/>
          <p:nvPr/>
        </p:nvSpPr>
        <p:spPr>
          <a:xfrm>
            <a:off x="7461504" y="3904488"/>
            <a:ext cx="512064" cy="512064"/>
          </a:xfrm>
          <a:prstGeom prst="ellipse">
            <a:avLst/>
          </a:prstGeom>
          <a:solidFill>
            <a:srgbClr val="0D6B43"/>
          </a:solidFill>
          <a:ln cap="flat" cmpd="sng" w="12700">
            <a:solidFill>
              <a:srgbClr val="0D6B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7" name="Google Shape;327;p21"/>
          <p:cNvPicPr preferRelativeResize="0"/>
          <p:nvPr/>
        </p:nvPicPr>
        <p:blipFill rotWithShape="1">
          <a:blip r:embed="rId7">
            <a:alphaModFix/>
          </a:blip>
          <a:srcRect b="0" l="0" r="0" t="0"/>
          <a:stretch/>
        </p:blipFill>
        <p:spPr>
          <a:xfrm>
            <a:off x="7551115" y="3994099"/>
            <a:ext cx="332842" cy="332842"/>
          </a:xfrm>
          <a:prstGeom prst="rect">
            <a:avLst/>
          </a:prstGeom>
          <a:noFill/>
          <a:ln>
            <a:noFill/>
          </a:ln>
        </p:spPr>
      </p:pic>
      <p:sp>
        <p:nvSpPr>
          <p:cNvPr id="328" name="Google Shape;328;p21"/>
          <p:cNvSpPr/>
          <p:nvPr/>
        </p:nvSpPr>
        <p:spPr>
          <a:xfrm>
            <a:off x="8211312" y="3904488"/>
            <a:ext cx="512064" cy="512064"/>
          </a:xfrm>
          <a:prstGeom prst="ellipse">
            <a:avLst/>
          </a:prstGeom>
          <a:solidFill>
            <a:srgbClr val="0D6B43"/>
          </a:solidFill>
          <a:ln cap="flat" cmpd="sng" w="12700">
            <a:solidFill>
              <a:srgbClr val="0D6B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9" name="Google Shape;329;p21"/>
          <p:cNvPicPr preferRelativeResize="0"/>
          <p:nvPr/>
        </p:nvPicPr>
        <p:blipFill rotWithShape="1">
          <a:blip r:embed="rId8">
            <a:alphaModFix/>
          </a:blip>
          <a:srcRect b="0" l="0" r="0" t="0"/>
          <a:stretch/>
        </p:blipFill>
        <p:spPr>
          <a:xfrm>
            <a:off x="8300923" y="3994099"/>
            <a:ext cx="332842" cy="332842"/>
          </a:xfrm>
          <a:prstGeom prst="rect">
            <a:avLst/>
          </a:prstGeom>
          <a:noFill/>
          <a:ln>
            <a:noFill/>
          </a:ln>
        </p:spPr>
      </p:pic>
      <p:sp>
        <p:nvSpPr>
          <p:cNvPr id="330" name="Google Shape;330;p21"/>
          <p:cNvSpPr/>
          <p:nvPr/>
        </p:nvSpPr>
        <p:spPr>
          <a:xfrm>
            <a:off x="6492240" y="4709160"/>
            <a:ext cx="246888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AB85"/>
              </a:buClr>
              <a:buSzPts val="900"/>
              <a:buFont typeface="Calibri"/>
              <a:buNone/>
            </a:pPr>
            <a:r>
              <a:rPr b="0" i="0" lang="en" u="none" cap="none" strike="noStrike">
                <a:solidFill>
                  <a:srgbClr val="6AAB85"/>
                </a:solidFill>
                <a:latin typeface="Calibri"/>
                <a:ea typeface="Calibri"/>
                <a:cs typeface="Calibri"/>
                <a:sym typeface="Calibri"/>
              </a:rPr>
              <a:t>Dennis Paul  ·  Leilah Kokoyo</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